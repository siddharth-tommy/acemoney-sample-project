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4" r:id="rId6"/>
    <p:sldId id="265" r:id="rId7"/>
    <p:sldId id="266" r:id="rId8"/>
    <p:sldId id="267" r:id="rId9"/>
    <p:sldId id="268"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FDC48-74DB-46F3-87B9-EF0C22854B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9A2819-09D3-447C-A256-058406AB3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3AA4D4-3AFB-457A-BC5F-F7DB21D3F1BA}"/>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5" name="Footer Placeholder 4">
            <a:extLst>
              <a:ext uri="{FF2B5EF4-FFF2-40B4-BE49-F238E27FC236}">
                <a16:creationId xmlns:a16="http://schemas.microsoft.com/office/drawing/2014/main" id="{AE68361D-8EDD-429F-8557-D6BDD3ACC3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CC6A94-4060-4D44-8143-C4BD7F9F87FE}"/>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2184927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BCB0-BEA7-4B29-AD13-3A8F4A67F0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0AE17F-26DF-480F-9496-62C227B6C8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89F1F2-1ABD-4681-993D-A6847059B269}"/>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5" name="Footer Placeholder 4">
            <a:extLst>
              <a:ext uri="{FF2B5EF4-FFF2-40B4-BE49-F238E27FC236}">
                <a16:creationId xmlns:a16="http://schemas.microsoft.com/office/drawing/2014/main" id="{E84C31F1-0E3B-4F15-8DAE-D449414748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360648-3BD4-4FFB-87AA-08ED9B00C979}"/>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3817642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B55C-A167-4797-B269-07C9B2F51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C7ACA0-864F-455A-9CE4-7467EE5E5F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A5B8F0-7533-4C25-A21A-F44563C4D8D3}"/>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5" name="Footer Placeholder 4">
            <a:extLst>
              <a:ext uri="{FF2B5EF4-FFF2-40B4-BE49-F238E27FC236}">
                <a16:creationId xmlns:a16="http://schemas.microsoft.com/office/drawing/2014/main" id="{500F427C-F750-4F33-A1C4-31CB1BE0BC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DECE70-144A-4973-85D1-87352512C1B0}"/>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882596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B40F6-1508-446E-A825-7AD968E396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636EA3-BBA7-47CF-BC3A-81FC41E36F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DD9439-6AA5-43FD-8807-B69892AAB7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111F77-7858-4C6D-98D9-000FD6F32204}"/>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6" name="Footer Placeholder 5">
            <a:extLst>
              <a:ext uri="{FF2B5EF4-FFF2-40B4-BE49-F238E27FC236}">
                <a16:creationId xmlns:a16="http://schemas.microsoft.com/office/drawing/2014/main" id="{F964AB16-63E4-48A2-BD36-E34BF74736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28BC7B-B0A9-497B-95D6-DC95EE55DE50}"/>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359749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D9065-1C08-4E55-9BB8-EE765B27230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68FEA9-B1D9-4DC2-BF7A-308B5B6EA3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CADA95-4FFA-421A-A6F0-71626BFB41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A30E65-90C7-4783-A47E-EE1610E455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F12D1F-8DA5-43A4-97A3-D512664AD4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96C1DB-63DA-4DBB-9A17-A3B3DA4DC79D}"/>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8" name="Footer Placeholder 7">
            <a:extLst>
              <a:ext uri="{FF2B5EF4-FFF2-40B4-BE49-F238E27FC236}">
                <a16:creationId xmlns:a16="http://schemas.microsoft.com/office/drawing/2014/main" id="{B912F60C-30B2-4587-9563-EB6BFF5C14D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5DFB0C-DACB-496C-BB85-4F9283E19716}"/>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774938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58C3-6B50-442B-84DF-977A30CDD3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31F1E7-EB56-4F67-9564-4EE92E1AA678}"/>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4" name="Footer Placeholder 3">
            <a:extLst>
              <a:ext uri="{FF2B5EF4-FFF2-40B4-BE49-F238E27FC236}">
                <a16:creationId xmlns:a16="http://schemas.microsoft.com/office/drawing/2014/main" id="{BB098625-6EE4-43E7-A4EB-8274F616BB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B77EB8-7BEB-4B96-A6F0-AC015CA12A9A}"/>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443422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251166-4EF4-4FD4-9ED9-D4E586F67543}"/>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3" name="Footer Placeholder 2">
            <a:extLst>
              <a:ext uri="{FF2B5EF4-FFF2-40B4-BE49-F238E27FC236}">
                <a16:creationId xmlns:a16="http://schemas.microsoft.com/office/drawing/2014/main" id="{8075726B-BB59-45E7-856C-64E438DFEB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01EFD7-2D6C-4B0F-A88E-9CA3F72947A2}"/>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931868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5296-B854-47A0-AAF2-DD29643D4E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4EAA8B-615F-40D8-B64B-D3FDDC2A19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111B4F-092F-4D37-8774-6887EE02C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17F0C7-6125-48FD-B81D-2C7480CCCA0B}"/>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6" name="Footer Placeholder 5">
            <a:extLst>
              <a:ext uri="{FF2B5EF4-FFF2-40B4-BE49-F238E27FC236}">
                <a16:creationId xmlns:a16="http://schemas.microsoft.com/office/drawing/2014/main" id="{AE05FB6C-A6D1-4CB0-9BE4-595E0ADCFB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24FAC9-5B17-4718-B823-B114E42AB260}"/>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1143740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91659-0854-481D-8ED1-C59A8D762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C5D874-B588-4C29-823D-1B6FB642CC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588C68-9B48-48CC-9415-A64A74C8B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1CCEAA-F358-4046-9148-28863277C303}"/>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6" name="Footer Placeholder 5">
            <a:extLst>
              <a:ext uri="{FF2B5EF4-FFF2-40B4-BE49-F238E27FC236}">
                <a16:creationId xmlns:a16="http://schemas.microsoft.com/office/drawing/2014/main" id="{03BE502C-C8E4-47F1-A994-BCA14B4CA6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ACE7F5-8175-4BE9-8659-B42F754308A0}"/>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1499271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6C8C0-7636-4CFA-A6FB-4607CA52F8D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697584-DA96-4802-9ED6-1AE188BE9D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4B6FAC-2B23-4CAB-ABCD-03A6BBB43CF8}"/>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5" name="Footer Placeholder 4">
            <a:extLst>
              <a:ext uri="{FF2B5EF4-FFF2-40B4-BE49-F238E27FC236}">
                <a16:creationId xmlns:a16="http://schemas.microsoft.com/office/drawing/2014/main" id="{33B3EA5B-FC53-45B6-BA32-51A975F49A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63FC13-ABAC-405B-9B1F-0DABCF86C5B4}"/>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1382921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CB1D1B-1C38-4337-AFBC-AA5A17D421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2076AA-1BAC-4275-AD8C-5DA8A7C788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2B457C-9B43-45B6-AA33-694C4C73F86D}"/>
              </a:ext>
            </a:extLst>
          </p:cNvPr>
          <p:cNvSpPr>
            <a:spLocks noGrp="1"/>
          </p:cNvSpPr>
          <p:nvPr>
            <p:ph type="dt" sz="half" idx="10"/>
          </p:nvPr>
        </p:nvSpPr>
        <p:spPr/>
        <p:txBody>
          <a:bodyPr/>
          <a:lstStyle/>
          <a:p>
            <a:fld id="{8ACCFB4D-3308-4821-9474-13CC035B4ED2}" type="datetimeFigureOut">
              <a:rPr lang="en-IN" smtClean="0"/>
              <a:t>10-01-2021</a:t>
            </a:fld>
            <a:endParaRPr lang="en-IN"/>
          </a:p>
        </p:txBody>
      </p:sp>
      <p:sp>
        <p:nvSpPr>
          <p:cNvPr id="5" name="Footer Placeholder 4">
            <a:extLst>
              <a:ext uri="{FF2B5EF4-FFF2-40B4-BE49-F238E27FC236}">
                <a16:creationId xmlns:a16="http://schemas.microsoft.com/office/drawing/2014/main" id="{E008FFE8-1803-4916-B235-92C8505A3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A76B54-F83B-44DD-B0ED-785A4EDECE40}"/>
              </a:ext>
            </a:extLst>
          </p:cNvPr>
          <p:cNvSpPr>
            <a:spLocks noGrp="1"/>
          </p:cNvSpPr>
          <p:nvPr>
            <p:ph type="sldNum" sz="quarter" idx="12"/>
          </p:nvPr>
        </p:nvSpPr>
        <p:spPr/>
        <p:txBody>
          <a:bodyPr/>
          <a:lstStyle/>
          <a:p>
            <a:fld id="{402AA2F1-B4AC-4755-91D8-2C40CFE8849C}" type="slidenum">
              <a:rPr lang="en-IN" smtClean="0"/>
              <a:t>‹#›</a:t>
            </a:fld>
            <a:endParaRPr lang="en-IN"/>
          </a:p>
        </p:txBody>
      </p:sp>
    </p:spTree>
    <p:extLst>
      <p:ext uri="{BB962C8B-B14F-4D97-AF65-F5344CB8AC3E}">
        <p14:creationId xmlns:p14="http://schemas.microsoft.com/office/powerpoint/2010/main" val="413287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8CED2E-96DF-46F3-97FF-2D5DE9441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7CF111-E364-430D-8770-08FA998A1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924007-19B8-4973-A529-C5C162BDE8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CCFB4D-3308-4821-9474-13CC035B4ED2}" type="datetimeFigureOut">
              <a:rPr lang="en-IN" smtClean="0"/>
              <a:t>10-01-2021</a:t>
            </a:fld>
            <a:endParaRPr lang="en-IN"/>
          </a:p>
        </p:txBody>
      </p:sp>
      <p:sp>
        <p:nvSpPr>
          <p:cNvPr id="5" name="Footer Placeholder 4">
            <a:extLst>
              <a:ext uri="{FF2B5EF4-FFF2-40B4-BE49-F238E27FC236}">
                <a16:creationId xmlns:a16="http://schemas.microsoft.com/office/drawing/2014/main" id="{7E40CFB9-A92D-4F2A-A264-36491BA54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1CBE0C-08CE-4729-AF39-5DA04E4EC8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AA2F1-B4AC-4755-91D8-2C40CFE8849C}" type="slidenum">
              <a:rPr lang="en-IN" smtClean="0"/>
              <a:t>‹#›</a:t>
            </a:fld>
            <a:endParaRPr lang="en-IN"/>
          </a:p>
        </p:txBody>
      </p:sp>
    </p:spTree>
    <p:extLst>
      <p:ext uri="{BB962C8B-B14F-4D97-AF65-F5344CB8AC3E}">
        <p14:creationId xmlns:p14="http://schemas.microsoft.com/office/powerpoint/2010/main" val="794092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A2EC86-E618-4E39-BB8C-41EE64F9BF61}"/>
              </a:ext>
            </a:extLst>
          </p:cNvPr>
          <p:cNvSpPr txBox="1"/>
          <p:nvPr/>
        </p:nvSpPr>
        <p:spPr>
          <a:xfrm>
            <a:off x="2563879" y="2139518"/>
            <a:ext cx="7064242" cy="1754326"/>
          </a:xfrm>
          <a:prstGeom prst="rect">
            <a:avLst/>
          </a:prstGeom>
          <a:noFill/>
        </p:spPr>
        <p:txBody>
          <a:bodyPr wrap="none" rtlCol="0">
            <a:spAutoFit/>
          </a:bodyPr>
          <a:lstStyle/>
          <a:p>
            <a:r>
              <a:rPr lang="en-US" sz="3600" dirty="0">
                <a:effectLst>
                  <a:outerShdw blurRad="38100" dist="38100" dir="2700000" algn="tl">
                    <a:srgbClr val="000000">
                      <a:alpha val="43137"/>
                    </a:srgbClr>
                  </a:outerShdw>
                </a:effectLst>
                <a:latin typeface="Arial Black" panose="020B0A04020102020204" pitchFamily="34" charset="0"/>
              </a:rPr>
              <a:t>FIN SERVE PRESENTATION</a:t>
            </a:r>
          </a:p>
          <a:p>
            <a:r>
              <a:rPr lang="en-IN" sz="3600" dirty="0">
                <a:effectLst>
                  <a:outerShdw blurRad="38100" dist="38100" dir="2700000" algn="tl">
                    <a:srgbClr val="000000">
                      <a:alpha val="43137"/>
                    </a:srgbClr>
                  </a:outerShdw>
                </a:effectLst>
                <a:latin typeface="Arial Black" panose="020B0A04020102020204" pitchFamily="34" charset="0"/>
              </a:rPr>
              <a:t>                      BY</a:t>
            </a:r>
          </a:p>
          <a:p>
            <a:r>
              <a:rPr lang="en-IN" sz="3600" dirty="0">
                <a:effectLst>
                  <a:outerShdw blurRad="38100" dist="38100" dir="2700000" algn="tl">
                    <a:srgbClr val="000000">
                      <a:alpha val="43137"/>
                    </a:srgbClr>
                  </a:outerShdw>
                </a:effectLst>
                <a:latin typeface="Arial Black" panose="020B0A04020102020204" pitchFamily="34" charset="0"/>
              </a:rPr>
              <a:t>                 KARTHIK</a:t>
            </a:r>
          </a:p>
        </p:txBody>
      </p:sp>
    </p:spTree>
    <p:extLst>
      <p:ext uri="{BB962C8B-B14F-4D97-AF65-F5344CB8AC3E}">
        <p14:creationId xmlns:p14="http://schemas.microsoft.com/office/powerpoint/2010/main" val="727702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8CAC71-FBF1-413E-A60B-63B1D9F8C85B}"/>
              </a:ext>
            </a:extLst>
          </p:cNvPr>
          <p:cNvSpPr>
            <a:spLocks noGrp="1"/>
          </p:cNvSpPr>
          <p:nvPr>
            <p:ph type="title"/>
          </p:nvPr>
        </p:nvSpPr>
        <p:spPr>
          <a:xfrm>
            <a:off x="571870" y="384127"/>
            <a:ext cx="10515600" cy="1325563"/>
          </a:xfrm>
        </p:spPr>
        <p:txBody>
          <a:bodyPr>
            <a:normAutofit/>
          </a:bodyPr>
          <a:lstStyle/>
          <a:p>
            <a:r>
              <a:rPr lang="en-US" sz="3200" dirty="0">
                <a:latin typeface="Algerian" panose="04020705040A02060702" pitchFamily="82" charset="0"/>
              </a:rPr>
              <a:t>FIN SERVE</a:t>
            </a:r>
            <a:endParaRPr lang="en-IN" sz="3200" dirty="0">
              <a:latin typeface="Algerian" panose="04020705040A02060702" pitchFamily="82" charset="0"/>
            </a:endParaRPr>
          </a:p>
        </p:txBody>
      </p:sp>
      <p:sp>
        <p:nvSpPr>
          <p:cNvPr id="6" name="TextBox 5">
            <a:extLst>
              <a:ext uri="{FF2B5EF4-FFF2-40B4-BE49-F238E27FC236}">
                <a16:creationId xmlns:a16="http://schemas.microsoft.com/office/drawing/2014/main" id="{46EAB8D5-1B76-445C-A096-E8F6DF1CAD1F}"/>
              </a:ext>
            </a:extLst>
          </p:cNvPr>
          <p:cNvSpPr txBox="1"/>
          <p:nvPr/>
        </p:nvSpPr>
        <p:spPr>
          <a:xfrm>
            <a:off x="3116062" y="2032987"/>
            <a:ext cx="184731" cy="369332"/>
          </a:xfrm>
          <a:prstGeom prst="rect">
            <a:avLst/>
          </a:prstGeom>
          <a:noFill/>
        </p:spPr>
        <p:txBody>
          <a:bodyPr wrap="none" rtlCol="0">
            <a:spAutoFit/>
          </a:bodyPr>
          <a:lstStyle/>
          <a:p>
            <a:endParaRPr lang="en-IN" dirty="0"/>
          </a:p>
        </p:txBody>
      </p:sp>
      <p:sp>
        <p:nvSpPr>
          <p:cNvPr id="7" name="Rectangle 6">
            <a:extLst>
              <a:ext uri="{FF2B5EF4-FFF2-40B4-BE49-F238E27FC236}">
                <a16:creationId xmlns:a16="http://schemas.microsoft.com/office/drawing/2014/main" id="{0696A21E-BA3E-42B3-B2C6-4347D0640B53}"/>
              </a:ext>
            </a:extLst>
          </p:cNvPr>
          <p:cNvSpPr/>
          <p:nvPr/>
        </p:nvSpPr>
        <p:spPr>
          <a:xfrm>
            <a:off x="2645546" y="1466293"/>
            <a:ext cx="8741546" cy="1133387"/>
          </a:xfrm>
          <a:prstGeom prst="rect">
            <a:avLst/>
          </a:prstGeom>
        </p:spPr>
        <p:txBody>
          <a:bodyPr wrap="square">
            <a:spAutoFit/>
          </a:bodyPr>
          <a:lstStyle/>
          <a:p>
            <a:pPr marL="342900" indent="-342900">
              <a:lnSpc>
                <a:spcPct val="115000"/>
              </a:lnSpc>
              <a:spcAft>
                <a:spcPts val="1000"/>
              </a:spcAft>
              <a:buFont typeface="Wingdings" panose="05000000000000000000" pitchFamily="2" charset="2"/>
              <a:buChar char="Ø"/>
            </a:pPr>
            <a:r>
              <a:rPr lang="en-US" sz="2000" b="1" dirty="0">
                <a:latin typeface="Calibri" panose="020F0502020204030204" pitchFamily="34" charset="0"/>
                <a:ea typeface="Times New Roman" panose="02020603050405020304" pitchFamily="18" charset="0"/>
                <a:cs typeface="Latha" panose="020B0604020202020204" pitchFamily="34" charset="0"/>
              </a:rPr>
              <a:t>Fin Serve </a:t>
            </a:r>
            <a:r>
              <a:rPr lang="en-US" sz="2000" dirty="0">
                <a:latin typeface="Calibri" panose="020F0502020204030204" pitchFamily="34" charset="0"/>
                <a:ea typeface="Times New Roman" panose="02020603050405020304" pitchFamily="18" charset="0"/>
                <a:cs typeface="Latha" panose="020B0604020202020204" pitchFamily="34" charset="0"/>
              </a:rPr>
              <a:t>Software is financial software which is used to manage information about the financial transaction for the individual person or the company to the third party. </a:t>
            </a:r>
            <a:endParaRPr lang="en-IN" sz="2000" dirty="0">
              <a:latin typeface="Calibri" panose="020F0502020204030204" pitchFamily="34" charset="0"/>
              <a:ea typeface="Times New Roman" panose="02020603050405020304" pitchFamily="18" charset="0"/>
              <a:cs typeface="Latha" panose="020B0604020202020204" pitchFamily="34" charset="0"/>
            </a:endParaRPr>
          </a:p>
        </p:txBody>
      </p:sp>
      <p:sp>
        <p:nvSpPr>
          <p:cNvPr id="8" name="Rectangle 7">
            <a:extLst>
              <a:ext uri="{FF2B5EF4-FFF2-40B4-BE49-F238E27FC236}">
                <a16:creationId xmlns:a16="http://schemas.microsoft.com/office/drawing/2014/main" id="{9750BB3A-BFA8-478C-AA67-89013E03EB4B}"/>
              </a:ext>
            </a:extLst>
          </p:cNvPr>
          <p:cNvSpPr/>
          <p:nvPr/>
        </p:nvSpPr>
        <p:spPr>
          <a:xfrm>
            <a:off x="2645546" y="2791856"/>
            <a:ext cx="8441924" cy="1015663"/>
          </a:xfrm>
          <a:prstGeom prst="rect">
            <a:avLst/>
          </a:prstGeom>
        </p:spPr>
        <p:txBody>
          <a:bodyPr wrap="square">
            <a:spAutoFit/>
          </a:bodyPr>
          <a:lstStyle/>
          <a:p>
            <a:pPr marL="342900" indent="-342900">
              <a:buFont typeface="Wingdings" panose="05000000000000000000" pitchFamily="2" charset="2"/>
              <a:buChar char="Ø"/>
            </a:pPr>
            <a:r>
              <a:rPr lang="en-US" sz="2000" dirty="0">
                <a:latin typeface="Calibri" panose="020F0502020204030204" pitchFamily="34" charset="0"/>
                <a:ea typeface="Times New Roman" panose="02020603050405020304" pitchFamily="18" charset="0"/>
                <a:cs typeface="Latha" panose="020B0604020202020204" pitchFamily="34" charset="0"/>
              </a:rPr>
              <a:t>By using this application user can able to manage their Finance account like deposit or withdraw or transfer details and also can able to manage their share or investment oriented information</a:t>
            </a:r>
            <a:r>
              <a:rPr lang="en-US" dirty="0">
                <a:latin typeface="Calibri" panose="020F0502020204030204" pitchFamily="34" charset="0"/>
                <a:ea typeface="Times New Roman" panose="02020603050405020304" pitchFamily="18" charset="0"/>
                <a:cs typeface="Latha" panose="020B0604020202020204" pitchFamily="34" charset="0"/>
              </a:rPr>
              <a:t>. </a:t>
            </a:r>
            <a:endParaRPr lang="en-IN" dirty="0"/>
          </a:p>
        </p:txBody>
      </p:sp>
      <p:sp>
        <p:nvSpPr>
          <p:cNvPr id="9" name="Rectangle 8">
            <a:extLst>
              <a:ext uri="{FF2B5EF4-FFF2-40B4-BE49-F238E27FC236}">
                <a16:creationId xmlns:a16="http://schemas.microsoft.com/office/drawing/2014/main" id="{D1479CAF-DDFB-4673-88EE-055E1EA21C02}"/>
              </a:ext>
            </a:extLst>
          </p:cNvPr>
          <p:cNvSpPr/>
          <p:nvPr/>
        </p:nvSpPr>
        <p:spPr>
          <a:xfrm>
            <a:off x="2645545" y="3999695"/>
            <a:ext cx="8741546" cy="1133387"/>
          </a:xfrm>
          <a:prstGeom prst="rect">
            <a:avLst/>
          </a:prstGeom>
        </p:spPr>
        <p:txBody>
          <a:bodyPr wrap="square">
            <a:spAutoFit/>
          </a:bodyPr>
          <a:lstStyle/>
          <a:p>
            <a:pPr marL="285750" indent="-285750">
              <a:lnSpc>
                <a:spcPct val="115000"/>
              </a:lnSpc>
              <a:spcAft>
                <a:spcPts val="1000"/>
              </a:spcAft>
              <a:buFont typeface="Wingdings" panose="05000000000000000000" pitchFamily="2" charset="2"/>
              <a:buChar char="Ø"/>
            </a:pPr>
            <a:r>
              <a:rPr lang="en-US" sz="2000" dirty="0">
                <a:latin typeface="Calibri" panose="020F0502020204030204" pitchFamily="34" charset="0"/>
                <a:ea typeface="Times New Roman" panose="02020603050405020304" pitchFamily="18" charset="0"/>
                <a:cs typeface="Latha" panose="020B0604020202020204" pitchFamily="34" charset="0"/>
              </a:rPr>
              <a:t>By utilizing this software We can easily manage the Payee information to whom they pay the money. We can also easily schedule their transaction for the payee.  After that We can able to View all of these Information on the Report format</a:t>
            </a:r>
            <a:r>
              <a:rPr lang="en-US" dirty="0">
                <a:latin typeface="Calibri" panose="020F0502020204030204" pitchFamily="34" charset="0"/>
                <a:ea typeface="Times New Roman" panose="02020603050405020304" pitchFamily="18" charset="0"/>
                <a:cs typeface="Latha" panose="020B0604020202020204" pitchFamily="34" charset="0"/>
              </a:rPr>
              <a:t>. </a:t>
            </a:r>
            <a:endParaRPr lang="en-IN" dirty="0">
              <a:latin typeface="Calibri" panose="020F0502020204030204" pitchFamily="34" charset="0"/>
              <a:ea typeface="Times New Roman" panose="02020603050405020304" pitchFamily="18" charset="0"/>
              <a:cs typeface="Latha" panose="020B0604020202020204" pitchFamily="34" charset="0"/>
            </a:endParaRPr>
          </a:p>
        </p:txBody>
      </p:sp>
      <p:sp>
        <p:nvSpPr>
          <p:cNvPr id="11" name="TextBox 10">
            <a:extLst>
              <a:ext uri="{FF2B5EF4-FFF2-40B4-BE49-F238E27FC236}">
                <a16:creationId xmlns:a16="http://schemas.microsoft.com/office/drawing/2014/main" id="{5593518F-2E3C-4FDA-A9E3-A8F7625E9EFD}"/>
              </a:ext>
            </a:extLst>
          </p:cNvPr>
          <p:cNvSpPr txBox="1"/>
          <p:nvPr/>
        </p:nvSpPr>
        <p:spPr>
          <a:xfrm>
            <a:off x="2645545" y="5782059"/>
            <a:ext cx="3941686"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It contains 7 modules.</a:t>
            </a:r>
            <a:endParaRPr lang="en-IN" sz="2000" dirty="0"/>
          </a:p>
        </p:txBody>
      </p:sp>
    </p:spTree>
    <p:extLst>
      <p:ext uri="{BB962C8B-B14F-4D97-AF65-F5344CB8AC3E}">
        <p14:creationId xmlns:p14="http://schemas.microsoft.com/office/powerpoint/2010/main" val="142145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22150-0A56-410C-8108-1AFC48DB400E}"/>
              </a:ext>
            </a:extLst>
          </p:cNvPr>
          <p:cNvSpPr>
            <a:spLocks noGrp="1"/>
          </p:cNvSpPr>
          <p:nvPr>
            <p:ph type="title"/>
          </p:nvPr>
        </p:nvSpPr>
        <p:spPr>
          <a:xfrm>
            <a:off x="376561" y="205327"/>
            <a:ext cx="10515600" cy="1325563"/>
          </a:xfrm>
        </p:spPr>
        <p:txBody>
          <a:bodyPr>
            <a:normAutofit/>
          </a:bodyPr>
          <a:lstStyle/>
          <a:p>
            <a:r>
              <a:rPr lang="en-US" sz="3200" dirty="0">
                <a:latin typeface="Algerian" panose="04020705040A02060702" pitchFamily="82" charset="0"/>
              </a:rPr>
              <a:t>TYPES OF MODULES</a:t>
            </a:r>
            <a:endParaRPr lang="en-IN" sz="3200" dirty="0">
              <a:latin typeface="Algerian" panose="04020705040A02060702" pitchFamily="82" charset="0"/>
            </a:endParaRPr>
          </a:p>
        </p:txBody>
      </p:sp>
      <p:sp>
        <p:nvSpPr>
          <p:cNvPr id="3" name="Rectangle 2">
            <a:extLst>
              <a:ext uri="{FF2B5EF4-FFF2-40B4-BE49-F238E27FC236}">
                <a16:creationId xmlns:a16="http://schemas.microsoft.com/office/drawing/2014/main" id="{92851DC1-69E5-4C83-934F-D96FEEA0EEC4}"/>
              </a:ext>
            </a:extLst>
          </p:cNvPr>
          <p:cNvSpPr/>
          <p:nvPr/>
        </p:nvSpPr>
        <p:spPr>
          <a:xfrm>
            <a:off x="4082565" y="1336866"/>
            <a:ext cx="5301132" cy="523220"/>
          </a:xfrm>
          <a:prstGeom prst="rect">
            <a:avLst/>
          </a:prstGeom>
        </p:spPr>
        <p:txBody>
          <a:bodyPr wrap="square">
            <a:spAutoFit/>
          </a:bodyPr>
          <a:lstStyle/>
          <a:p>
            <a:pPr marL="457200" indent="-457200">
              <a:buFont typeface="Wingdings" panose="05000000000000000000" pitchFamily="2" charset="2"/>
              <a:buChar char="v"/>
            </a:pPr>
            <a:r>
              <a:rPr lang="en-US" sz="2800" dirty="0">
                <a:latin typeface="Calibri" panose="020F0502020204030204" pitchFamily="34" charset="0"/>
                <a:ea typeface="Times New Roman" panose="02020603050405020304" pitchFamily="18" charset="0"/>
                <a:cs typeface="Latha" panose="020B0604020202020204" pitchFamily="34" charset="0"/>
              </a:rPr>
              <a:t>Account Module </a:t>
            </a:r>
            <a:endParaRPr lang="en-IN" sz="2800" dirty="0"/>
          </a:p>
        </p:txBody>
      </p:sp>
      <p:sp>
        <p:nvSpPr>
          <p:cNvPr id="4" name="Rectangle 3">
            <a:extLst>
              <a:ext uri="{FF2B5EF4-FFF2-40B4-BE49-F238E27FC236}">
                <a16:creationId xmlns:a16="http://schemas.microsoft.com/office/drawing/2014/main" id="{F9CE7443-1C6A-49A9-B14A-B87F21EE962C}"/>
              </a:ext>
            </a:extLst>
          </p:cNvPr>
          <p:cNvSpPr/>
          <p:nvPr/>
        </p:nvSpPr>
        <p:spPr>
          <a:xfrm>
            <a:off x="4082565" y="2078451"/>
            <a:ext cx="3201197" cy="523220"/>
          </a:xfrm>
          <a:prstGeom prst="rect">
            <a:avLst/>
          </a:prstGeom>
        </p:spPr>
        <p:txBody>
          <a:bodyPr wrap="none">
            <a:spAutoFit/>
          </a:bodyPr>
          <a:lstStyle/>
          <a:p>
            <a:pPr marL="457200" indent="-457200">
              <a:buFont typeface="Wingdings" panose="05000000000000000000" pitchFamily="2" charset="2"/>
              <a:buChar char="v"/>
            </a:pPr>
            <a:r>
              <a:rPr lang="en-US" sz="2800" dirty="0">
                <a:latin typeface="Calibri" panose="020F0502020204030204" pitchFamily="34" charset="0"/>
                <a:ea typeface="Times New Roman" panose="02020603050405020304" pitchFamily="18" charset="0"/>
                <a:cs typeface="Latha" panose="020B0604020202020204" pitchFamily="34" charset="0"/>
              </a:rPr>
              <a:t>Portfolio Module </a:t>
            </a:r>
            <a:endParaRPr lang="en-IN" sz="2800" dirty="0"/>
          </a:p>
        </p:txBody>
      </p:sp>
      <p:sp>
        <p:nvSpPr>
          <p:cNvPr id="5" name="Rectangle 4">
            <a:extLst>
              <a:ext uri="{FF2B5EF4-FFF2-40B4-BE49-F238E27FC236}">
                <a16:creationId xmlns:a16="http://schemas.microsoft.com/office/drawing/2014/main" id="{EB3F37F4-A53C-43AB-81E1-B2C2DF320915}"/>
              </a:ext>
            </a:extLst>
          </p:cNvPr>
          <p:cNvSpPr/>
          <p:nvPr/>
        </p:nvSpPr>
        <p:spPr>
          <a:xfrm>
            <a:off x="3837787" y="2818488"/>
            <a:ext cx="2895344" cy="558743"/>
          </a:xfrm>
          <a:prstGeom prst="rect">
            <a:avLst/>
          </a:prstGeom>
        </p:spPr>
        <p:txBody>
          <a:bodyPr wrap="none">
            <a:spAutoFit/>
          </a:bodyPr>
          <a:lstStyle/>
          <a:p>
            <a:pPr marL="685800" indent="-457200">
              <a:lnSpc>
                <a:spcPct val="115000"/>
              </a:lnSpc>
              <a:spcAft>
                <a:spcPts val="1000"/>
              </a:spcAft>
              <a:buFont typeface="Wingdings" panose="05000000000000000000" pitchFamily="2" charset="2"/>
              <a:buChar char="v"/>
            </a:pPr>
            <a:r>
              <a:rPr lang="en-US" sz="2800" dirty="0"/>
              <a:t>Bank Module </a:t>
            </a:r>
            <a:endParaRPr lang="en-IN" sz="2800" dirty="0"/>
          </a:p>
        </p:txBody>
      </p:sp>
      <p:sp>
        <p:nvSpPr>
          <p:cNvPr id="6" name="Rectangle 5">
            <a:extLst>
              <a:ext uri="{FF2B5EF4-FFF2-40B4-BE49-F238E27FC236}">
                <a16:creationId xmlns:a16="http://schemas.microsoft.com/office/drawing/2014/main" id="{36252921-8565-48CD-BE58-0DD0B0AD832F}"/>
              </a:ext>
            </a:extLst>
          </p:cNvPr>
          <p:cNvSpPr/>
          <p:nvPr/>
        </p:nvSpPr>
        <p:spPr>
          <a:xfrm>
            <a:off x="3837787" y="3513646"/>
            <a:ext cx="3032112" cy="558743"/>
          </a:xfrm>
          <a:prstGeom prst="rect">
            <a:avLst/>
          </a:prstGeom>
        </p:spPr>
        <p:txBody>
          <a:bodyPr wrap="none">
            <a:spAutoFit/>
          </a:bodyPr>
          <a:lstStyle/>
          <a:p>
            <a:pPr marL="685800" indent="-457200">
              <a:lnSpc>
                <a:spcPct val="115000"/>
              </a:lnSpc>
              <a:spcAft>
                <a:spcPts val="1000"/>
              </a:spcAft>
              <a:buFont typeface="Wingdings" panose="05000000000000000000" pitchFamily="2" charset="2"/>
              <a:buChar char="v"/>
            </a:pPr>
            <a:r>
              <a:rPr lang="en-US" sz="2800" dirty="0">
                <a:latin typeface="Calibri" panose="020F0502020204030204" pitchFamily="34" charset="0"/>
                <a:ea typeface="Times New Roman" panose="02020603050405020304" pitchFamily="18" charset="0"/>
                <a:cs typeface="Latha" panose="020B0604020202020204" pitchFamily="34" charset="0"/>
              </a:rPr>
              <a:t>Payee Module </a:t>
            </a:r>
            <a:endParaRPr lang="en-IN" sz="2800" dirty="0">
              <a:latin typeface="Calibri" panose="020F0502020204030204" pitchFamily="34" charset="0"/>
              <a:ea typeface="Times New Roman" panose="02020603050405020304" pitchFamily="18" charset="0"/>
              <a:cs typeface="Latha" panose="020B0604020202020204" pitchFamily="34" charset="0"/>
            </a:endParaRPr>
          </a:p>
        </p:txBody>
      </p:sp>
      <p:sp>
        <p:nvSpPr>
          <p:cNvPr id="7" name="Rectangle 6">
            <a:extLst>
              <a:ext uri="{FF2B5EF4-FFF2-40B4-BE49-F238E27FC236}">
                <a16:creationId xmlns:a16="http://schemas.microsoft.com/office/drawing/2014/main" id="{982B5161-E473-4E4A-A671-02F2EF208779}"/>
              </a:ext>
            </a:extLst>
          </p:cNvPr>
          <p:cNvSpPr/>
          <p:nvPr/>
        </p:nvSpPr>
        <p:spPr>
          <a:xfrm>
            <a:off x="3837787" y="4256330"/>
            <a:ext cx="3627916" cy="558743"/>
          </a:xfrm>
          <a:prstGeom prst="rect">
            <a:avLst/>
          </a:prstGeom>
        </p:spPr>
        <p:txBody>
          <a:bodyPr wrap="none">
            <a:spAutoFit/>
          </a:bodyPr>
          <a:lstStyle/>
          <a:p>
            <a:pPr marL="685800" indent="-457200">
              <a:lnSpc>
                <a:spcPct val="115000"/>
              </a:lnSpc>
              <a:spcAft>
                <a:spcPts val="1000"/>
              </a:spcAft>
              <a:buFont typeface="Wingdings" panose="05000000000000000000" pitchFamily="2" charset="2"/>
              <a:buChar char="v"/>
            </a:pPr>
            <a:r>
              <a:rPr lang="en-US" sz="2800" dirty="0">
                <a:latin typeface="Calibri" panose="020F0502020204030204" pitchFamily="34" charset="0"/>
                <a:ea typeface="Times New Roman" panose="02020603050405020304" pitchFamily="18" charset="0"/>
                <a:cs typeface="Latha" panose="020B0604020202020204" pitchFamily="34" charset="0"/>
              </a:rPr>
              <a:t>Categories Module</a:t>
            </a:r>
            <a:endParaRPr lang="en-IN" sz="2800" dirty="0">
              <a:latin typeface="Calibri" panose="020F0502020204030204" pitchFamily="34" charset="0"/>
              <a:ea typeface="Times New Roman" panose="02020603050405020304" pitchFamily="18" charset="0"/>
              <a:cs typeface="Latha" panose="020B0604020202020204" pitchFamily="34" charset="0"/>
            </a:endParaRPr>
          </a:p>
        </p:txBody>
      </p:sp>
      <p:sp>
        <p:nvSpPr>
          <p:cNvPr id="8" name="Rectangle 7">
            <a:extLst>
              <a:ext uri="{FF2B5EF4-FFF2-40B4-BE49-F238E27FC236}">
                <a16:creationId xmlns:a16="http://schemas.microsoft.com/office/drawing/2014/main" id="{16FA39D7-AFBA-447D-BD6B-B758B49301A2}"/>
              </a:ext>
            </a:extLst>
          </p:cNvPr>
          <p:cNvSpPr/>
          <p:nvPr/>
        </p:nvSpPr>
        <p:spPr>
          <a:xfrm>
            <a:off x="3818869" y="5031890"/>
            <a:ext cx="3498073" cy="558743"/>
          </a:xfrm>
          <a:prstGeom prst="rect">
            <a:avLst/>
          </a:prstGeom>
        </p:spPr>
        <p:txBody>
          <a:bodyPr wrap="none">
            <a:spAutoFit/>
          </a:bodyPr>
          <a:lstStyle/>
          <a:p>
            <a:pPr marL="685800" indent="-457200">
              <a:lnSpc>
                <a:spcPct val="115000"/>
              </a:lnSpc>
              <a:spcAft>
                <a:spcPts val="1000"/>
              </a:spcAft>
              <a:buFont typeface="Wingdings" panose="05000000000000000000" pitchFamily="2" charset="2"/>
              <a:buChar char="v"/>
            </a:pPr>
            <a:r>
              <a:rPr lang="en-US" sz="2800" dirty="0">
                <a:latin typeface="Calibri" panose="020F0502020204030204" pitchFamily="34" charset="0"/>
                <a:ea typeface="Times New Roman" panose="02020603050405020304" pitchFamily="18" charset="0"/>
                <a:cs typeface="Latha" panose="020B0604020202020204" pitchFamily="34" charset="0"/>
              </a:rPr>
              <a:t>Schedule Module </a:t>
            </a:r>
            <a:endParaRPr lang="en-IN" sz="2800" dirty="0">
              <a:latin typeface="Calibri" panose="020F0502020204030204" pitchFamily="34" charset="0"/>
              <a:ea typeface="Times New Roman" panose="02020603050405020304" pitchFamily="18" charset="0"/>
              <a:cs typeface="Latha" panose="020B0604020202020204" pitchFamily="34" charset="0"/>
            </a:endParaRPr>
          </a:p>
        </p:txBody>
      </p:sp>
      <p:sp>
        <p:nvSpPr>
          <p:cNvPr id="9" name="Rectangle 8">
            <a:extLst>
              <a:ext uri="{FF2B5EF4-FFF2-40B4-BE49-F238E27FC236}">
                <a16:creationId xmlns:a16="http://schemas.microsoft.com/office/drawing/2014/main" id="{95C6D7FA-92FA-4960-9C12-7F81C446CC0B}"/>
              </a:ext>
            </a:extLst>
          </p:cNvPr>
          <p:cNvSpPr/>
          <p:nvPr/>
        </p:nvSpPr>
        <p:spPr>
          <a:xfrm>
            <a:off x="4082565" y="5841061"/>
            <a:ext cx="2853795" cy="523220"/>
          </a:xfrm>
          <a:prstGeom prst="rect">
            <a:avLst/>
          </a:prstGeom>
        </p:spPr>
        <p:txBody>
          <a:bodyPr wrap="none">
            <a:spAutoFit/>
          </a:bodyPr>
          <a:lstStyle/>
          <a:p>
            <a:pPr marL="457200" indent="-457200">
              <a:buFont typeface="Wingdings" panose="05000000000000000000" pitchFamily="2" charset="2"/>
              <a:buChar char="v"/>
            </a:pPr>
            <a:r>
              <a:rPr lang="en-US" sz="2800" dirty="0">
                <a:latin typeface="Calibri" panose="020F0502020204030204" pitchFamily="34" charset="0"/>
                <a:ea typeface="Times New Roman" panose="02020603050405020304" pitchFamily="18" charset="0"/>
                <a:cs typeface="Latha" panose="020B0604020202020204" pitchFamily="34" charset="0"/>
              </a:rPr>
              <a:t>Report Module</a:t>
            </a:r>
            <a:endParaRPr lang="en-IN" sz="2800" dirty="0"/>
          </a:p>
        </p:txBody>
      </p:sp>
    </p:spTree>
    <p:extLst>
      <p:ext uri="{BB962C8B-B14F-4D97-AF65-F5344CB8AC3E}">
        <p14:creationId xmlns:p14="http://schemas.microsoft.com/office/powerpoint/2010/main" val="3251784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A8EC2D-CD0C-4BA7-9228-33122C69FD37}"/>
              </a:ext>
            </a:extLst>
          </p:cNvPr>
          <p:cNvSpPr/>
          <p:nvPr/>
        </p:nvSpPr>
        <p:spPr>
          <a:xfrm>
            <a:off x="745190" y="678688"/>
            <a:ext cx="3703258" cy="584775"/>
          </a:xfrm>
          <a:prstGeom prst="rect">
            <a:avLst/>
          </a:prstGeom>
        </p:spPr>
        <p:txBody>
          <a:bodyPr wrap="none">
            <a:spAutoFit/>
          </a:bodyPr>
          <a:lstStyle/>
          <a:p>
            <a:r>
              <a:rPr lang="en-US" sz="3200" dirty="0">
                <a:latin typeface="Algerian" panose="04020705040A02060702" pitchFamily="82" charset="0"/>
                <a:ea typeface="Times New Roman" panose="02020603050405020304" pitchFamily="18" charset="0"/>
                <a:cs typeface="Latha" panose="020B0604020202020204" pitchFamily="34" charset="0"/>
              </a:rPr>
              <a:t>Account Module </a:t>
            </a:r>
            <a:endParaRPr lang="en-IN" sz="3200" dirty="0">
              <a:latin typeface="Algerian" panose="04020705040A02060702" pitchFamily="82" charset="0"/>
            </a:endParaRPr>
          </a:p>
        </p:txBody>
      </p:sp>
      <p:sp>
        <p:nvSpPr>
          <p:cNvPr id="3" name="Rectangle 2">
            <a:extLst>
              <a:ext uri="{FF2B5EF4-FFF2-40B4-BE49-F238E27FC236}">
                <a16:creationId xmlns:a16="http://schemas.microsoft.com/office/drawing/2014/main" id="{C960D5D4-6893-4BF9-BF49-9EFAB518CA42}"/>
              </a:ext>
            </a:extLst>
          </p:cNvPr>
          <p:cNvSpPr/>
          <p:nvPr/>
        </p:nvSpPr>
        <p:spPr>
          <a:xfrm>
            <a:off x="3518516" y="1440156"/>
            <a:ext cx="7658470" cy="916854"/>
          </a:xfrm>
          <a:prstGeom prst="rect">
            <a:avLst/>
          </a:prstGeom>
        </p:spPr>
        <p:txBody>
          <a:bodyPr wrap="square">
            <a:spAutoFit/>
          </a:bodyPr>
          <a:lstStyle/>
          <a:p>
            <a:pPr marL="10287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Latha" panose="020B0604020202020204" pitchFamily="34" charset="0"/>
              </a:rPr>
              <a:t>User can able to create a New Account for them for managing their financial transaction</a:t>
            </a:r>
            <a:endParaRPr lang="en-IN" sz="2400" dirty="0">
              <a:latin typeface="Calibri" panose="020F0502020204030204" pitchFamily="34" charset="0"/>
              <a:ea typeface="Times New Roman" panose="02020603050405020304" pitchFamily="18" charset="0"/>
              <a:cs typeface="Latha" panose="020B0604020202020204" pitchFamily="34" charset="0"/>
            </a:endParaRPr>
          </a:p>
        </p:txBody>
      </p:sp>
      <p:sp>
        <p:nvSpPr>
          <p:cNvPr id="4" name="TextBox 3">
            <a:extLst>
              <a:ext uri="{FF2B5EF4-FFF2-40B4-BE49-F238E27FC236}">
                <a16:creationId xmlns:a16="http://schemas.microsoft.com/office/drawing/2014/main" id="{187103A8-0837-4563-926B-6DB7A03DF80E}"/>
              </a:ext>
            </a:extLst>
          </p:cNvPr>
          <p:cNvSpPr txBox="1"/>
          <p:nvPr/>
        </p:nvSpPr>
        <p:spPr>
          <a:xfrm>
            <a:off x="4234649" y="2701005"/>
            <a:ext cx="3937110"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t>It contains sub module like</a:t>
            </a:r>
            <a:endParaRPr lang="en-IN" sz="2400" dirty="0"/>
          </a:p>
        </p:txBody>
      </p:sp>
      <p:sp>
        <p:nvSpPr>
          <p:cNvPr id="5" name="Rectangle 4">
            <a:extLst>
              <a:ext uri="{FF2B5EF4-FFF2-40B4-BE49-F238E27FC236}">
                <a16:creationId xmlns:a16="http://schemas.microsoft.com/office/drawing/2014/main" id="{28CFE26F-335B-42BA-9181-29153974B5F1}"/>
              </a:ext>
            </a:extLst>
          </p:cNvPr>
          <p:cNvSpPr/>
          <p:nvPr/>
        </p:nvSpPr>
        <p:spPr>
          <a:xfrm>
            <a:off x="6110796" y="4143615"/>
            <a:ext cx="1421543" cy="400110"/>
          </a:xfrm>
          <a:prstGeom prst="rect">
            <a:avLst/>
          </a:prstGeom>
        </p:spPr>
        <p:txBody>
          <a:bodyPr wrap="none">
            <a:spAutoFit/>
          </a:bodyPr>
          <a:lstStyle/>
          <a:p>
            <a:pPr marL="342900" indent="-342900">
              <a:buFont typeface="Wingdings" panose="05000000000000000000" pitchFamily="2" charset="2"/>
              <a:buChar char="§"/>
            </a:pPr>
            <a:r>
              <a:rPr lang="en-US" sz="2000" dirty="0">
                <a:latin typeface="Calibri" panose="020F0502020204030204" pitchFamily="34" charset="0"/>
                <a:ea typeface="Times New Roman" panose="02020603050405020304" pitchFamily="18" charset="0"/>
                <a:cs typeface="Latha" panose="020B0604020202020204" pitchFamily="34" charset="0"/>
              </a:rPr>
              <a:t>Pay bills </a:t>
            </a:r>
            <a:endParaRPr lang="en-IN" sz="2000" dirty="0"/>
          </a:p>
        </p:txBody>
      </p:sp>
      <p:sp>
        <p:nvSpPr>
          <p:cNvPr id="6" name="Rectangle 5">
            <a:extLst>
              <a:ext uri="{FF2B5EF4-FFF2-40B4-BE49-F238E27FC236}">
                <a16:creationId xmlns:a16="http://schemas.microsoft.com/office/drawing/2014/main" id="{3F786478-964E-4D21-B4AE-640AB0BCBB14}"/>
              </a:ext>
            </a:extLst>
          </p:cNvPr>
          <p:cNvSpPr/>
          <p:nvPr/>
        </p:nvSpPr>
        <p:spPr>
          <a:xfrm>
            <a:off x="6096000" y="4635043"/>
            <a:ext cx="2603149" cy="400110"/>
          </a:xfrm>
          <a:prstGeom prst="rect">
            <a:avLst/>
          </a:prstGeom>
        </p:spPr>
        <p:txBody>
          <a:bodyPr wrap="none">
            <a:spAutoFit/>
          </a:bodyPr>
          <a:lstStyle/>
          <a:p>
            <a:pPr marL="342900" indent="-342900">
              <a:buFont typeface="Wingdings" panose="05000000000000000000" pitchFamily="2" charset="2"/>
              <a:buChar char="§"/>
            </a:pPr>
            <a:r>
              <a:rPr lang="en-US" sz="2000" dirty="0">
                <a:latin typeface="Calibri" panose="020F0502020204030204" pitchFamily="34" charset="0"/>
                <a:ea typeface="Times New Roman" panose="02020603050405020304" pitchFamily="18" charset="0"/>
                <a:cs typeface="Latha" panose="020B0604020202020204" pitchFamily="34" charset="0"/>
              </a:rPr>
              <a:t>Analysis the Report </a:t>
            </a:r>
            <a:endParaRPr lang="en-IN" sz="2000" dirty="0"/>
          </a:p>
        </p:txBody>
      </p:sp>
      <p:sp>
        <p:nvSpPr>
          <p:cNvPr id="7" name="Rectangle 6">
            <a:extLst>
              <a:ext uri="{FF2B5EF4-FFF2-40B4-BE49-F238E27FC236}">
                <a16:creationId xmlns:a16="http://schemas.microsoft.com/office/drawing/2014/main" id="{46F235F7-1617-4F89-8923-7D5E54FAE0FF}"/>
              </a:ext>
            </a:extLst>
          </p:cNvPr>
          <p:cNvSpPr/>
          <p:nvPr/>
        </p:nvSpPr>
        <p:spPr>
          <a:xfrm>
            <a:off x="6096000" y="5800535"/>
            <a:ext cx="1864869" cy="400110"/>
          </a:xfrm>
          <a:prstGeom prst="rect">
            <a:avLst/>
          </a:prstGeom>
        </p:spPr>
        <p:txBody>
          <a:bodyPr wrap="none">
            <a:spAutoFit/>
          </a:bodyPr>
          <a:lstStyle/>
          <a:p>
            <a:pPr marL="342900" indent="-342900">
              <a:buFont typeface="Wingdings" panose="05000000000000000000" pitchFamily="2" charset="2"/>
              <a:buChar char="§"/>
            </a:pPr>
            <a:r>
              <a:rPr lang="en-US" sz="2000" dirty="0">
                <a:latin typeface="Calibri" panose="020F0502020204030204" pitchFamily="34" charset="0"/>
                <a:ea typeface="Times New Roman" panose="02020603050405020304" pitchFamily="18" charset="0"/>
                <a:cs typeface="Latha" panose="020B0604020202020204" pitchFamily="34" charset="0"/>
              </a:rPr>
              <a:t>Update now </a:t>
            </a:r>
            <a:endParaRPr lang="en-IN" sz="2000" dirty="0"/>
          </a:p>
        </p:txBody>
      </p:sp>
      <p:sp>
        <p:nvSpPr>
          <p:cNvPr id="8" name="Rectangle 7">
            <a:extLst>
              <a:ext uri="{FF2B5EF4-FFF2-40B4-BE49-F238E27FC236}">
                <a16:creationId xmlns:a16="http://schemas.microsoft.com/office/drawing/2014/main" id="{28F8A046-E224-4C98-B5F9-188CB4C7517D}"/>
              </a:ext>
            </a:extLst>
          </p:cNvPr>
          <p:cNvSpPr/>
          <p:nvPr/>
        </p:nvSpPr>
        <p:spPr>
          <a:xfrm>
            <a:off x="6096000" y="5217789"/>
            <a:ext cx="2558649" cy="400110"/>
          </a:xfrm>
          <a:prstGeom prst="rect">
            <a:avLst/>
          </a:prstGeom>
        </p:spPr>
        <p:txBody>
          <a:bodyPr wrap="none">
            <a:spAutoFit/>
          </a:bodyPr>
          <a:lstStyle/>
          <a:p>
            <a:pPr marL="342900" indent="-342900">
              <a:buFont typeface="Wingdings" panose="05000000000000000000" pitchFamily="2" charset="2"/>
              <a:buChar char="§"/>
            </a:pPr>
            <a:r>
              <a:rPr lang="en-US" sz="2000" dirty="0">
                <a:latin typeface="Calibri" panose="020F0502020204030204" pitchFamily="34" charset="0"/>
                <a:ea typeface="Times New Roman" panose="02020603050405020304" pitchFamily="18" charset="0"/>
                <a:cs typeface="Latha" panose="020B0604020202020204" pitchFamily="34" charset="0"/>
              </a:rPr>
              <a:t>Currency Exchange </a:t>
            </a:r>
            <a:endParaRPr lang="en-IN" sz="2000" dirty="0"/>
          </a:p>
        </p:txBody>
      </p:sp>
      <p:sp>
        <p:nvSpPr>
          <p:cNvPr id="9" name="TextBox 8">
            <a:extLst>
              <a:ext uri="{FF2B5EF4-FFF2-40B4-BE49-F238E27FC236}">
                <a16:creationId xmlns:a16="http://schemas.microsoft.com/office/drawing/2014/main" id="{CA39053D-A9C2-4A18-BEEF-6DF562300CDF}"/>
              </a:ext>
            </a:extLst>
          </p:cNvPr>
          <p:cNvSpPr txBox="1"/>
          <p:nvPr/>
        </p:nvSpPr>
        <p:spPr>
          <a:xfrm>
            <a:off x="6110796" y="3648020"/>
            <a:ext cx="1721562" cy="369332"/>
          </a:xfrm>
          <a:prstGeom prst="rect">
            <a:avLst/>
          </a:prstGeom>
          <a:noFill/>
        </p:spPr>
        <p:txBody>
          <a:bodyPr wrap="none" rtlCol="0">
            <a:spAutoFit/>
          </a:bodyPr>
          <a:lstStyle/>
          <a:p>
            <a:pPr marL="285750" indent="-285750">
              <a:buFont typeface="Wingdings" panose="05000000000000000000" pitchFamily="2" charset="2"/>
              <a:buChar char="§"/>
            </a:pPr>
            <a:r>
              <a:rPr lang="en-US" dirty="0"/>
              <a:t>New Account</a:t>
            </a:r>
            <a:endParaRPr lang="en-IN" dirty="0"/>
          </a:p>
        </p:txBody>
      </p:sp>
    </p:spTree>
    <p:extLst>
      <p:ext uri="{BB962C8B-B14F-4D97-AF65-F5344CB8AC3E}">
        <p14:creationId xmlns:p14="http://schemas.microsoft.com/office/powerpoint/2010/main" val="4288292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05E5-74AE-4580-B758-8B47D45656CC}"/>
              </a:ext>
            </a:extLst>
          </p:cNvPr>
          <p:cNvSpPr>
            <a:spLocks noGrp="1"/>
          </p:cNvSpPr>
          <p:nvPr>
            <p:ph type="title"/>
          </p:nvPr>
        </p:nvSpPr>
        <p:spPr>
          <a:xfrm>
            <a:off x="580748" y="418391"/>
            <a:ext cx="10515600" cy="1325563"/>
          </a:xfrm>
        </p:spPr>
        <p:txBody>
          <a:bodyPr/>
          <a:lstStyle/>
          <a:p>
            <a:r>
              <a:rPr lang="en-US" sz="3200" dirty="0">
                <a:latin typeface="Algerian" panose="04020705040A02060702" pitchFamily="82" charset="0"/>
              </a:rPr>
              <a:t>Portfolio Module </a:t>
            </a:r>
            <a:br>
              <a:rPr lang="en-IN" dirty="0"/>
            </a:br>
            <a:endParaRPr lang="en-IN" dirty="0"/>
          </a:p>
        </p:txBody>
      </p:sp>
      <p:sp>
        <p:nvSpPr>
          <p:cNvPr id="3" name="Rectangle 2">
            <a:extLst>
              <a:ext uri="{FF2B5EF4-FFF2-40B4-BE49-F238E27FC236}">
                <a16:creationId xmlns:a16="http://schemas.microsoft.com/office/drawing/2014/main" id="{70B76A6C-75AF-4394-B5F5-3FD72BDCBF50}"/>
              </a:ext>
            </a:extLst>
          </p:cNvPr>
          <p:cNvSpPr/>
          <p:nvPr/>
        </p:nvSpPr>
        <p:spPr>
          <a:xfrm>
            <a:off x="3438618" y="1334147"/>
            <a:ext cx="8040210" cy="916854"/>
          </a:xfrm>
          <a:prstGeom prst="rect">
            <a:avLst/>
          </a:prstGeom>
        </p:spPr>
        <p:txBody>
          <a:bodyPr wrap="square">
            <a:spAutoFit/>
          </a:bodyPr>
          <a:lstStyle/>
          <a:p>
            <a:pPr marL="10287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Latha" panose="020B0604020202020204" pitchFamily="34" charset="0"/>
              </a:rPr>
              <a:t>Portfolio Module is collection of investments like stocks, bonds, commodities . </a:t>
            </a:r>
            <a:endParaRPr lang="en-IN" sz="2400" dirty="0">
              <a:latin typeface="Calibri" panose="020F0502020204030204" pitchFamily="34" charset="0"/>
              <a:ea typeface="Times New Roman" panose="02020603050405020304" pitchFamily="18" charset="0"/>
              <a:cs typeface="Latha" panose="020B0604020202020204" pitchFamily="34" charset="0"/>
            </a:endParaRPr>
          </a:p>
        </p:txBody>
      </p:sp>
      <p:sp>
        <p:nvSpPr>
          <p:cNvPr id="4" name="TextBox 3">
            <a:extLst>
              <a:ext uri="{FF2B5EF4-FFF2-40B4-BE49-F238E27FC236}">
                <a16:creationId xmlns:a16="http://schemas.microsoft.com/office/drawing/2014/main" id="{7BAAA029-DAEE-4FBE-8885-F83C189D5D08}"/>
              </a:ext>
            </a:extLst>
          </p:cNvPr>
          <p:cNvSpPr txBox="1"/>
          <p:nvPr/>
        </p:nvSpPr>
        <p:spPr>
          <a:xfrm>
            <a:off x="4072818" y="2967335"/>
            <a:ext cx="4046364"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a:t>It contains sub modules like </a:t>
            </a:r>
            <a:endParaRPr lang="en-IN" sz="2400" dirty="0"/>
          </a:p>
        </p:txBody>
      </p:sp>
      <p:sp>
        <p:nvSpPr>
          <p:cNvPr id="5" name="TextBox 4">
            <a:extLst>
              <a:ext uri="{FF2B5EF4-FFF2-40B4-BE49-F238E27FC236}">
                <a16:creationId xmlns:a16="http://schemas.microsoft.com/office/drawing/2014/main" id="{FEFFD9AE-EFD2-494A-84D7-A15E5E7C2825}"/>
              </a:ext>
            </a:extLst>
          </p:cNvPr>
          <p:cNvSpPr txBox="1"/>
          <p:nvPr/>
        </p:nvSpPr>
        <p:spPr>
          <a:xfrm>
            <a:off x="6019061" y="3720602"/>
            <a:ext cx="2263761"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New Transaction</a:t>
            </a:r>
            <a:endParaRPr lang="en-IN" sz="2000" dirty="0"/>
          </a:p>
        </p:txBody>
      </p:sp>
      <p:sp>
        <p:nvSpPr>
          <p:cNvPr id="6" name="TextBox 5">
            <a:extLst>
              <a:ext uri="{FF2B5EF4-FFF2-40B4-BE49-F238E27FC236}">
                <a16:creationId xmlns:a16="http://schemas.microsoft.com/office/drawing/2014/main" id="{AF722591-F417-4DD6-9972-8604E0705738}"/>
              </a:ext>
            </a:extLst>
          </p:cNvPr>
          <p:cNvSpPr txBox="1"/>
          <p:nvPr/>
        </p:nvSpPr>
        <p:spPr>
          <a:xfrm>
            <a:off x="6019061" y="4273814"/>
            <a:ext cx="2258305"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t>Add Investment</a:t>
            </a:r>
            <a:endParaRPr lang="en-IN" sz="2000" dirty="0"/>
          </a:p>
        </p:txBody>
      </p:sp>
      <p:sp>
        <p:nvSpPr>
          <p:cNvPr id="7" name="TextBox 6">
            <a:extLst>
              <a:ext uri="{FF2B5EF4-FFF2-40B4-BE49-F238E27FC236}">
                <a16:creationId xmlns:a16="http://schemas.microsoft.com/office/drawing/2014/main" id="{30EAFC05-134D-4E38-B6E9-00FF6393EB8C}"/>
              </a:ext>
            </a:extLst>
          </p:cNvPr>
          <p:cNvSpPr txBox="1"/>
          <p:nvPr/>
        </p:nvSpPr>
        <p:spPr>
          <a:xfrm>
            <a:off x="6019061" y="4827026"/>
            <a:ext cx="2164760"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Edit Investment</a:t>
            </a:r>
            <a:endParaRPr lang="en-IN" sz="2000" dirty="0"/>
          </a:p>
        </p:txBody>
      </p:sp>
      <p:sp>
        <p:nvSpPr>
          <p:cNvPr id="8" name="TextBox 7">
            <a:extLst>
              <a:ext uri="{FF2B5EF4-FFF2-40B4-BE49-F238E27FC236}">
                <a16:creationId xmlns:a16="http://schemas.microsoft.com/office/drawing/2014/main" id="{F727D6F8-0477-4CDE-BA0A-B137A9711FDC}"/>
              </a:ext>
            </a:extLst>
          </p:cNvPr>
          <p:cNvSpPr txBox="1"/>
          <p:nvPr/>
        </p:nvSpPr>
        <p:spPr>
          <a:xfrm>
            <a:off x="6004442" y="5380238"/>
            <a:ext cx="2446567"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Delete Investment</a:t>
            </a:r>
            <a:endParaRPr lang="en-IN" sz="2000" dirty="0"/>
          </a:p>
        </p:txBody>
      </p:sp>
      <p:sp>
        <p:nvSpPr>
          <p:cNvPr id="9" name="TextBox 8">
            <a:extLst>
              <a:ext uri="{FF2B5EF4-FFF2-40B4-BE49-F238E27FC236}">
                <a16:creationId xmlns:a16="http://schemas.microsoft.com/office/drawing/2014/main" id="{08CCE0DF-5181-4862-9427-0B2D0A66DA8A}"/>
              </a:ext>
            </a:extLst>
          </p:cNvPr>
          <p:cNvSpPr txBox="1"/>
          <p:nvPr/>
        </p:nvSpPr>
        <p:spPr>
          <a:xfrm>
            <a:off x="6019061" y="5871895"/>
            <a:ext cx="1245854"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Import</a:t>
            </a:r>
            <a:endParaRPr lang="en-IN" sz="2000" dirty="0"/>
          </a:p>
        </p:txBody>
      </p:sp>
    </p:spTree>
    <p:extLst>
      <p:ext uri="{BB962C8B-B14F-4D97-AF65-F5344CB8AC3E}">
        <p14:creationId xmlns:p14="http://schemas.microsoft.com/office/powerpoint/2010/main" val="306537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C4EF0-A03D-4FB1-8B63-7AEB761E7C87}"/>
              </a:ext>
            </a:extLst>
          </p:cNvPr>
          <p:cNvSpPr>
            <a:spLocks noGrp="1"/>
          </p:cNvSpPr>
          <p:nvPr>
            <p:ph type="title"/>
          </p:nvPr>
        </p:nvSpPr>
        <p:spPr>
          <a:xfrm>
            <a:off x="696158" y="391758"/>
            <a:ext cx="10515600" cy="1325563"/>
          </a:xfrm>
        </p:spPr>
        <p:txBody>
          <a:bodyPr>
            <a:normAutofit/>
          </a:bodyPr>
          <a:lstStyle/>
          <a:p>
            <a:r>
              <a:rPr lang="en-US" sz="3200" dirty="0">
                <a:latin typeface="Algerian" panose="04020705040A02060702" pitchFamily="82" charset="0"/>
              </a:rPr>
              <a:t>Bank Module </a:t>
            </a:r>
            <a:br>
              <a:rPr lang="en-IN" sz="3200" dirty="0">
                <a:latin typeface="Algerian" panose="04020705040A02060702" pitchFamily="82" charset="0"/>
              </a:rPr>
            </a:br>
            <a:endParaRPr lang="en-IN" sz="3200" dirty="0">
              <a:latin typeface="Algerian" panose="04020705040A02060702" pitchFamily="82" charset="0"/>
            </a:endParaRPr>
          </a:p>
        </p:txBody>
      </p:sp>
      <p:sp>
        <p:nvSpPr>
          <p:cNvPr id="3" name="Rectangle 2">
            <a:extLst>
              <a:ext uri="{FF2B5EF4-FFF2-40B4-BE49-F238E27FC236}">
                <a16:creationId xmlns:a16="http://schemas.microsoft.com/office/drawing/2014/main" id="{9D0DD2C8-208D-447C-9787-C71F76D3C64E}"/>
              </a:ext>
            </a:extLst>
          </p:cNvPr>
          <p:cNvSpPr/>
          <p:nvPr/>
        </p:nvSpPr>
        <p:spPr>
          <a:xfrm>
            <a:off x="2808302" y="1308561"/>
            <a:ext cx="8927977" cy="1766317"/>
          </a:xfrm>
          <a:prstGeom prst="rect">
            <a:avLst/>
          </a:prstGeom>
        </p:spPr>
        <p:txBody>
          <a:bodyPr wrap="square">
            <a:spAutoFit/>
          </a:bodyPr>
          <a:lstStyle/>
          <a:p>
            <a:pPr marL="10287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Latha" panose="020B0604020202020204" pitchFamily="34" charset="0"/>
              </a:rPr>
              <a:t>Purpose of this bank module is used creating the New Account we can include the Bank details. This Bank module consists of various banks details with their complete information along with their website  </a:t>
            </a:r>
            <a:r>
              <a:rPr lang="en-US" sz="2400" dirty="0" err="1">
                <a:latin typeface="Calibri" panose="020F0502020204030204" pitchFamily="34" charset="0"/>
                <a:ea typeface="Times New Roman" panose="02020603050405020304" pitchFamily="18" charset="0"/>
                <a:cs typeface="Latha" panose="020B0604020202020204" pitchFamily="34" charset="0"/>
              </a:rPr>
              <a:t>url</a:t>
            </a:r>
            <a:r>
              <a:rPr lang="en-US" sz="2400" dirty="0">
                <a:latin typeface="Calibri" panose="020F0502020204030204" pitchFamily="34" charset="0"/>
                <a:ea typeface="Times New Roman" panose="02020603050405020304" pitchFamily="18" charset="0"/>
                <a:cs typeface="Latha" panose="020B0604020202020204" pitchFamily="34" charset="0"/>
              </a:rPr>
              <a:t> information. </a:t>
            </a:r>
            <a:endParaRPr lang="en-IN" sz="2400" dirty="0">
              <a:latin typeface="Calibri" panose="020F0502020204030204" pitchFamily="34" charset="0"/>
              <a:ea typeface="Times New Roman" panose="02020603050405020304" pitchFamily="18" charset="0"/>
              <a:cs typeface="Latha" panose="020B0604020202020204" pitchFamily="34" charset="0"/>
            </a:endParaRPr>
          </a:p>
        </p:txBody>
      </p:sp>
      <p:sp>
        <p:nvSpPr>
          <p:cNvPr id="5" name="Rectangle 4">
            <a:extLst>
              <a:ext uri="{FF2B5EF4-FFF2-40B4-BE49-F238E27FC236}">
                <a16:creationId xmlns:a16="http://schemas.microsoft.com/office/drawing/2014/main" id="{1867D8C4-C2B3-4F84-9F6D-E24D550CB39A}"/>
              </a:ext>
            </a:extLst>
          </p:cNvPr>
          <p:cNvSpPr/>
          <p:nvPr/>
        </p:nvSpPr>
        <p:spPr>
          <a:xfrm>
            <a:off x="3513702" y="3198167"/>
            <a:ext cx="4046364" cy="461665"/>
          </a:xfrm>
          <a:prstGeom prst="rect">
            <a:avLst/>
          </a:prstGeom>
        </p:spPr>
        <p:txBody>
          <a:bodyPr wrap="none">
            <a:spAutoFit/>
          </a:bodyPr>
          <a:lstStyle/>
          <a:p>
            <a:pPr marL="342900" indent="-342900">
              <a:buFont typeface="Wingdings" panose="05000000000000000000" pitchFamily="2" charset="2"/>
              <a:buChar char="Ø"/>
            </a:pPr>
            <a:r>
              <a:rPr lang="en-US" sz="2400" dirty="0"/>
              <a:t>It contains sub modules like </a:t>
            </a:r>
            <a:endParaRPr lang="en-IN" sz="2400" dirty="0"/>
          </a:p>
        </p:txBody>
      </p:sp>
      <p:sp>
        <p:nvSpPr>
          <p:cNvPr id="6" name="TextBox 5">
            <a:extLst>
              <a:ext uri="{FF2B5EF4-FFF2-40B4-BE49-F238E27FC236}">
                <a16:creationId xmlns:a16="http://schemas.microsoft.com/office/drawing/2014/main" id="{0ADDE9D6-FC7E-4337-949C-29C1769E1491}"/>
              </a:ext>
            </a:extLst>
          </p:cNvPr>
          <p:cNvSpPr txBox="1"/>
          <p:nvPr/>
        </p:nvSpPr>
        <p:spPr>
          <a:xfrm>
            <a:off x="5797118" y="3991681"/>
            <a:ext cx="1577996"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New Bank</a:t>
            </a:r>
            <a:endParaRPr lang="en-IN" sz="2000" dirty="0"/>
          </a:p>
        </p:txBody>
      </p:sp>
      <p:sp>
        <p:nvSpPr>
          <p:cNvPr id="7" name="TextBox 6">
            <a:extLst>
              <a:ext uri="{FF2B5EF4-FFF2-40B4-BE49-F238E27FC236}">
                <a16:creationId xmlns:a16="http://schemas.microsoft.com/office/drawing/2014/main" id="{92425DFE-073B-4473-AB7E-86AAB9BAD7B0}"/>
              </a:ext>
            </a:extLst>
          </p:cNvPr>
          <p:cNvSpPr txBox="1"/>
          <p:nvPr/>
        </p:nvSpPr>
        <p:spPr>
          <a:xfrm>
            <a:off x="5797118" y="4523585"/>
            <a:ext cx="2606098"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Edit Bank Attributes</a:t>
            </a:r>
            <a:endParaRPr lang="en-IN" sz="2000" dirty="0"/>
          </a:p>
        </p:txBody>
      </p:sp>
      <p:sp>
        <p:nvSpPr>
          <p:cNvPr id="8" name="TextBox 7">
            <a:extLst>
              <a:ext uri="{FF2B5EF4-FFF2-40B4-BE49-F238E27FC236}">
                <a16:creationId xmlns:a16="http://schemas.microsoft.com/office/drawing/2014/main" id="{A0CAA3B4-0D5A-4B70-BE96-D09846560C5F}"/>
              </a:ext>
            </a:extLst>
          </p:cNvPr>
          <p:cNvSpPr txBox="1"/>
          <p:nvPr/>
        </p:nvSpPr>
        <p:spPr>
          <a:xfrm>
            <a:off x="5797118" y="5108539"/>
            <a:ext cx="1786771"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Delete Bank</a:t>
            </a:r>
            <a:endParaRPr lang="en-IN" sz="2000" dirty="0"/>
          </a:p>
        </p:txBody>
      </p:sp>
      <p:sp>
        <p:nvSpPr>
          <p:cNvPr id="10" name="TextBox 9">
            <a:extLst>
              <a:ext uri="{FF2B5EF4-FFF2-40B4-BE49-F238E27FC236}">
                <a16:creationId xmlns:a16="http://schemas.microsoft.com/office/drawing/2014/main" id="{FE1B9A23-F51B-40C4-8726-714AEBEA12F7}"/>
              </a:ext>
            </a:extLst>
          </p:cNvPr>
          <p:cNvSpPr txBox="1"/>
          <p:nvPr/>
        </p:nvSpPr>
        <p:spPr>
          <a:xfrm>
            <a:off x="5778779" y="5693493"/>
            <a:ext cx="2642775" cy="677108"/>
          </a:xfrm>
          <a:prstGeom prst="rect">
            <a:avLst/>
          </a:prstGeom>
          <a:noFill/>
        </p:spPr>
        <p:txBody>
          <a:bodyPr wrap="none" rtlCol="0">
            <a:spAutoFit/>
          </a:bodyPr>
          <a:lstStyle/>
          <a:p>
            <a:pPr marL="342900" indent="-342900">
              <a:buFont typeface="Wingdings" panose="05000000000000000000" pitchFamily="2" charset="2"/>
              <a:buChar char="§"/>
            </a:pPr>
            <a:r>
              <a:rPr lang="en-US" sz="2000" dirty="0"/>
              <a:t>Delete Unused Bank</a:t>
            </a:r>
            <a:endParaRPr lang="en-IN" sz="2000" dirty="0"/>
          </a:p>
          <a:p>
            <a:endParaRPr lang="en-IN" dirty="0"/>
          </a:p>
        </p:txBody>
      </p:sp>
      <p:sp>
        <p:nvSpPr>
          <p:cNvPr id="11" name="Rectangle 10">
            <a:extLst>
              <a:ext uri="{FF2B5EF4-FFF2-40B4-BE49-F238E27FC236}">
                <a16:creationId xmlns:a16="http://schemas.microsoft.com/office/drawing/2014/main" id="{412E401E-0415-4A67-9811-4E54FE880DD0}"/>
              </a:ext>
            </a:extLst>
          </p:cNvPr>
          <p:cNvSpPr/>
          <p:nvPr/>
        </p:nvSpPr>
        <p:spPr>
          <a:xfrm>
            <a:off x="5802454" y="6204076"/>
            <a:ext cx="1245854" cy="400110"/>
          </a:xfrm>
          <a:prstGeom prst="rect">
            <a:avLst/>
          </a:prstGeom>
        </p:spPr>
        <p:txBody>
          <a:bodyPr wrap="none">
            <a:spAutoFit/>
          </a:bodyPr>
          <a:lstStyle/>
          <a:p>
            <a:pPr marL="342900" indent="-342900">
              <a:buFont typeface="Wingdings" panose="05000000000000000000" pitchFamily="2" charset="2"/>
              <a:buChar char="§"/>
            </a:pPr>
            <a:r>
              <a:rPr lang="en-US" sz="2000" dirty="0"/>
              <a:t>Import</a:t>
            </a:r>
            <a:endParaRPr lang="en-IN" sz="2000" dirty="0"/>
          </a:p>
        </p:txBody>
      </p:sp>
    </p:spTree>
    <p:extLst>
      <p:ext uri="{BB962C8B-B14F-4D97-AF65-F5344CB8AC3E}">
        <p14:creationId xmlns:p14="http://schemas.microsoft.com/office/powerpoint/2010/main" val="3955484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57AD1-CE66-4A77-B98A-05FF3C191C5D}"/>
              </a:ext>
            </a:extLst>
          </p:cNvPr>
          <p:cNvSpPr>
            <a:spLocks noGrp="1"/>
          </p:cNvSpPr>
          <p:nvPr>
            <p:ph type="title"/>
          </p:nvPr>
        </p:nvSpPr>
        <p:spPr>
          <a:xfrm>
            <a:off x="545237" y="391758"/>
            <a:ext cx="10515600" cy="1325563"/>
          </a:xfrm>
        </p:spPr>
        <p:txBody>
          <a:bodyPr>
            <a:normAutofit/>
          </a:bodyPr>
          <a:lstStyle/>
          <a:p>
            <a:r>
              <a:rPr lang="en-US" sz="3200" dirty="0">
                <a:latin typeface="Algerian" panose="04020705040A02060702" pitchFamily="82" charset="0"/>
              </a:rPr>
              <a:t>Payee Module </a:t>
            </a:r>
            <a:br>
              <a:rPr lang="en-IN" sz="3200" dirty="0">
                <a:latin typeface="Algerian" panose="04020705040A02060702" pitchFamily="82" charset="0"/>
              </a:rPr>
            </a:br>
            <a:endParaRPr lang="en-IN" sz="3200" dirty="0">
              <a:latin typeface="Algerian" panose="04020705040A02060702" pitchFamily="82" charset="0"/>
            </a:endParaRPr>
          </a:p>
        </p:txBody>
      </p:sp>
      <p:sp>
        <p:nvSpPr>
          <p:cNvPr id="3" name="Rectangle 2">
            <a:extLst>
              <a:ext uri="{FF2B5EF4-FFF2-40B4-BE49-F238E27FC236}">
                <a16:creationId xmlns:a16="http://schemas.microsoft.com/office/drawing/2014/main" id="{3B1BD19F-8A4D-46D7-A605-018D4C36B357}"/>
              </a:ext>
            </a:extLst>
          </p:cNvPr>
          <p:cNvSpPr/>
          <p:nvPr/>
        </p:nvSpPr>
        <p:spPr>
          <a:xfrm>
            <a:off x="2586361" y="1717321"/>
            <a:ext cx="8217763" cy="916854"/>
          </a:xfrm>
          <a:prstGeom prst="rect">
            <a:avLst/>
          </a:prstGeom>
        </p:spPr>
        <p:txBody>
          <a:bodyPr wrap="square">
            <a:spAutoFit/>
          </a:bodyPr>
          <a:lstStyle/>
          <a:p>
            <a:pPr marL="10287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Latha" panose="020B0604020202020204" pitchFamily="34" charset="0"/>
              </a:rPr>
              <a:t>The Payee Module is used to manage the Payee information .</a:t>
            </a:r>
            <a:endParaRPr lang="en-IN" sz="2400" dirty="0">
              <a:latin typeface="Calibri" panose="020F0502020204030204" pitchFamily="34" charset="0"/>
              <a:ea typeface="Times New Roman" panose="02020603050405020304" pitchFamily="18" charset="0"/>
              <a:cs typeface="Latha" panose="020B0604020202020204" pitchFamily="34" charset="0"/>
            </a:endParaRPr>
          </a:p>
        </p:txBody>
      </p:sp>
      <p:sp>
        <p:nvSpPr>
          <p:cNvPr id="4" name="Rectangle 3">
            <a:extLst>
              <a:ext uri="{FF2B5EF4-FFF2-40B4-BE49-F238E27FC236}">
                <a16:creationId xmlns:a16="http://schemas.microsoft.com/office/drawing/2014/main" id="{9BFEAC56-BE01-4797-83F2-DE6D9C22F721}"/>
              </a:ext>
            </a:extLst>
          </p:cNvPr>
          <p:cNvSpPr/>
          <p:nvPr/>
        </p:nvSpPr>
        <p:spPr>
          <a:xfrm>
            <a:off x="3274005" y="2889227"/>
            <a:ext cx="4046364" cy="461665"/>
          </a:xfrm>
          <a:prstGeom prst="rect">
            <a:avLst/>
          </a:prstGeom>
        </p:spPr>
        <p:txBody>
          <a:bodyPr wrap="none">
            <a:spAutoFit/>
          </a:bodyPr>
          <a:lstStyle/>
          <a:p>
            <a:pPr marL="342900" indent="-342900">
              <a:buFont typeface="Wingdings" panose="05000000000000000000" pitchFamily="2" charset="2"/>
              <a:buChar char="Ø"/>
            </a:pPr>
            <a:r>
              <a:rPr lang="en-US" sz="2400" dirty="0"/>
              <a:t>It contains sub modules like </a:t>
            </a:r>
            <a:endParaRPr lang="en-IN" sz="2400" dirty="0"/>
          </a:p>
        </p:txBody>
      </p:sp>
      <p:sp>
        <p:nvSpPr>
          <p:cNvPr id="5" name="TextBox 4">
            <a:extLst>
              <a:ext uri="{FF2B5EF4-FFF2-40B4-BE49-F238E27FC236}">
                <a16:creationId xmlns:a16="http://schemas.microsoft.com/office/drawing/2014/main" id="{AA97AB4F-A400-402A-B5F3-28AB46080FBB}"/>
              </a:ext>
            </a:extLst>
          </p:cNvPr>
          <p:cNvSpPr txBox="1"/>
          <p:nvPr/>
        </p:nvSpPr>
        <p:spPr>
          <a:xfrm>
            <a:off x="5297187" y="3605944"/>
            <a:ext cx="1678408"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New Payee</a:t>
            </a:r>
            <a:endParaRPr lang="en-IN" sz="2000" dirty="0"/>
          </a:p>
        </p:txBody>
      </p:sp>
      <p:sp>
        <p:nvSpPr>
          <p:cNvPr id="6" name="TextBox 5">
            <a:extLst>
              <a:ext uri="{FF2B5EF4-FFF2-40B4-BE49-F238E27FC236}">
                <a16:creationId xmlns:a16="http://schemas.microsoft.com/office/drawing/2014/main" id="{9C9BC5C5-97DF-4DF4-AC31-8E25180BA5FD}"/>
              </a:ext>
            </a:extLst>
          </p:cNvPr>
          <p:cNvSpPr txBox="1"/>
          <p:nvPr/>
        </p:nvSpPr>
        <p:spPr>
          <a:xfrm>
            <a:off x="5297187" y="4154751"/>
            <a:ext cx="2460995" cy="369332"/>
          </a:xfrm>
          <a:prstGeom prst="rect">
            <a:avLst/>
          </a:prstGeom>
          <a:noFill/>
        </p:spPr>
        <p:txBody>
          <a:bodyPr wrap="none" rtlCol="0">
            <a:spAutoFit/>
          </a:bodyPr>
          <a:lstStyle/>
          <a:p>
            <a:pPr marL="285750" indent="-285750">
              <a:buFont typeface="Wingdings" panose="05000000000000000000" pitchFamily="2" charset="2"/>
              <a:buChar char="§"/>
            </a:pPr>
            <a:r>
              <a:rPr lang="en-US" dirty="0"/>
              <a:t>Edit Payee Properties</a:t>
            </a:r>
            <a:endParaRPr lang="en-IN" dirty="0"/>
          </a:p>
        </p:txBody>
      </p:sp>
      <p:sp>
        <p:nvSpPr>
          <p:cNvPr id="7" name="TextBox 6">
            <a:extLst>
              <a:ext uri="{FF2B5EF4-FFF2-40B4-BE49-F238E27FC236}">
                <a16:creationId xmlns:a16="http://schemas.microsoft.com/office/drawing/2014/main" id="{739C36C9-07D1-437C-9D87-64CA88F29B00}"/>
              </a:ext>
            </a:extLst>
          </p:cNvPr>
          <p:cNvSpPr txBox="1"/>
          <p:nvPr/>
        </p:nvSpPr>
        <p:spPr>
          <a:xfrm>
            <a:off x="5297187" y="4672780"/>
            <a:ext cx="1887183"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Delete Payee</a:t>
            </a:r>
            <a:endParaRPr lang="en-IN" sz="2000" dirty="0"/>
          </a:p>
        </p:txBody>
      </p:sp>
      <p:sp>
        <p:nvSpPr>
          <p:cNvPr id="8" name="Rectangle 7">
            <a:extLst>
              <a:ext uri="{FF2B5EF4-FFF2-40B4-BE49-F238E27FC236}">
                <a16:creationId xmlns:a16="http://schemas.microsoft.com/office/drawing/2014/main" id="{93F74B47-E101-4ACE-B707-1C7E840A2C65}"/>
              </a:ext>
            </a:extLst>
          </p:cNvPr>
          <p:cNvSpPr/>
          <p:nvPr/>
        </p:nvSpPr>
        <p:spPr>
          <a:xfrm>
            <a:off x="5297187" y="5221587"/>
            <a:ext cx="2743187" cy="400110"/>
          </a:xfrm>
          <a:prstGeom prst="rect">
            <a:avLst/>
          </a:prstGeom>
        </p:spPr>
        <p:txBody>
          <a:bodyPr wrap="none">
            <a:spAutoFit/>
          </a:bodyPr>
          <a:lstStyle/>
          <a:p>
            <a:pPr marL="342900" indent="-342900">
              <a:buFont typeface="Wingdings" panose="05000000000000000000" pitchFamily="2" charset="2"/>
              <a:buChar char="§"/>
            </a:pPr>
            <a:r>
              <a:rPr lang="en-US" sz="2000" dirty="0"/>
              <a:t>Delete Unused Payee</a:t>
            </a:r>
            <a:endParaRPr lang="en-IN" sz="2000" dirty="0"/>
          </a:p>
        </p:txBody>
      </p:sp>
      <p:sp>
        <p:nvSpPr>
          <p:cNvPr id="9" name="Rectangle 8">
            <a:extLst>
              <a:ext uri="{FF2B5EF4-FFF2-40B4-BE49-F238E27FC236}">
                <a16:creationId xmlns:a16="http://schemas.microsoft.com/office/drawing/2014/main" id="{6AA0CCF4-7492-466C-838A-65B711759D75}"/>
              </a:ext>
            </a:extLst>
          </p:cNvPr>
          <p:cNvSpPr/>
          <p:nvPr/>
        </p:nvSpPr>
        <p:spPr>
          <a:xfrm>
            <a:off x="5297187" y="5738249"/>
            <a:ext cx="1941750" cy="400110"/>
          </a:xfrm>
          <a:prstGeom prst="rect">
            <a:avLst/>
          </a:prstGeom>
        </p:spPr>
        <p:txBody>
          <a:bodyPr wrap="none">
            <a:spAutoFit/>
          </a:bodyPr>
          <a:lstStyle/>
          <a:p>
            <a:pPr marL="342900" indent="-342900">
              <a:buFont typeface="Wingdings" panose="05000000000000000000" pitchFamily="2" charset="2"/>
              <a:buChar char="§"/>
            </a:pPr>
            <a:r>
              <a:rPr lang="en-US" sz="2000" dirty="0">
                <a:latin typeface="Calibri" panose="020F0502020204030204" pitchFamily="34" charset="0"/>
                <a:ea typeface="Times New Roman" panose="02020603050405020304" pitchFamily="18" charset="0"/>
                <a:cs typeface="Latha" panose="020B0604020202020204" pitchFamily="34" charset="0"/>
              </a:rPr>
              <a:t>Merge Payee </a:t>
            </a:r>
            <a:endParaRPr lang="en-IN" sz="2000" dirty="0"/>
          </a:p>
        </p:txBody>
      </p:sp>
      <p:sp>
        <p:nvSpPr>
          <p:cNvPr id="10" name="Rectangle 9">
            <a:extLst>
              <a:ext uri="{FF2B5EF4-FFF2-40B4-BE49-F238E27FC236}">
                <a16:creationId xmlns:a16="http://schemas.microsoft.com/office/drawing/2014/main" id="{FD7BE7C0-B119-4477-B8E8-813310E864FA}"/>
              </a:ext>
            </a:extLst>
          </p:cNvPr>
          <p:cNvSpPr/>
          <p:nvPr/>
        </p:nvSpPr>
        <p:spPr>
          <a:xfrm>
            <a:off x="5297187" y="6266187"/>
            <a:ext cx="2280240" cy="400110"/>
          </a:xfrm>
          <a:prstGeom prst="rect">
            <a:avLst/>
          </a:prstGeom>
        </p:spPr>
        <p:txBody>
          <a:bodyPr wrap="none">
            <a:spAutoFit/>
          </a:bodyPr>
          <a:lstStyle/>
          <a:p>
            <a:pPr marL="342900" indent="-342900">
              <a:buFont typeface="Wingdings" panose="05000000000000000000" pitchFamily="2" charset="2"/>
              <a:buChar char="§"/>
            </a:pPr>
            <a:r>
              <a:rPr lang="en-US" sz="2000" dirty="0">
                <a:latin typeface="Calibri" panose="020F0502020204030204" pitchFamily="34" charset="0"/>
                <a:ea typeface="Times New Roman" panose="02020603050405020304" pitchFamily="18" charset="0"/>
                <a:cs typeface="Latha" panose="020B0604020202020204" pitchFamily="34" charset="0"/>
              </a:rPr>
              <a:t>Report By Payee </a:t>
            </a:r>
            <a:endParaRPr lang="en-IN" sz="2000" dirty="0"/>
          </a:p>
        </p:txBody>
      </p:sp>
    </p:spTree>
    <p:extLst>
      <p:ext uri="{BB962C8B-B14F-4D97-AF65-F5344CB8AC3E}">
        <p14:creationId xmlns:p14="http://schemas.microsoft.com/office/powerpoint/2010/main" val="302022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7C4E-090E-424C-B73F-CBF5FD9D3393}"/>
              </a:ext>
            </a:extLst>
          </p:cNvPr>
          <p:cNvSpPr>
            <a:spLocks noGrp="1"/>
          </p:cNvSpPr>
          <p:nvPr>
            <p:ph type="title"/>
          </p:nvPr>
        </p:nvSpPr>
        <p:spPr>
          <a:xfrm>
            <a:off x="634013" y="356247"/>
            <a:ext cx="10515600" cy="1325563"/>
          </a:xfrm>
        </p:spPr>
        <p:txBody>
          <a:bodyPr>
            <a:normAutofit/>
          </a:bodyPr>
          <a:lstStyle/>
          <a:p>
            <a:r>
              <a:rPr lang="en-US" sz="3200" dirty="0">
                <a:latin typeface="Algerian" panose="04020705040A02060702" pitchFamily="82" charset="0"/>
              </a:rPr>
              <a:t>Categories Module </a:t>
            </a:r>
            <a:br>
              <a:rPr lang="en-IN" sz="3200" dirty="0">
                <a:latin typeface="Algerian" panose="04020705040A02060702" pitchFamily="82" charset="0"/>
              </a:rPr>
            </a:br>
            <a:endParaRPr lang="en-IN" sz="3200" dirty="0">
              <a:latin typeface="Algerian" panose="04020705040A02060702" pitchFamily="82" charset="0"/>
            </a:endParaRPr>
          </a:p>
        </p:txBody>
      </p:sp>
      <p:sp>
        <p:nvSpPr>
          <p:cNvPr id="3" name="Rectangle 2">
            <a:extLst>
              <a:ext uri="{FF2B5EF4-FFF2-40B4-BE49-F238E27FC236}">
                <a16:creationId xmlns:a16="http://schemas.microsoft.com/office/drawing/2014/main" id="{ADF262E7-D354-4112-AF6A-9754109D6AA4}"/>
              </a:ext>
            </a:extLst>
          </p:cNvPr>
          <p:cNvSpPr/>
          <p:nvPr/>
        </p:nvSpPr>
        <p:spPr>
          <a:xfrm>
            <a:off x="3980154" y="1681810"/>
            <a:ext cx="8101613" cy="916854"/>
          </a:xfrm>
          <a:prstGeom prst="rect">
            <a:avLst/>
          </a:prstGeom>
        </p:spPr>
        <p:txBody>
          <a:bodyPr wrap="square">
            <a:spAutoFit/>
          </a:bodyPr>
          <a:lstStyle/>
          <a:p>
            <a:pPr marL="3429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Latha" panose="020B0604020202020204" pitchFamily="34" charset="0"/>
              </a:rPr>
              <a:t>Category module is used to manage the Payee with respect to any of the one Category Present in the Application. </a:t>
            </a:r>
            <a:endParaRPr lang="en-IN" sz="2400" dirty="0">
              <a:latin typeface="Calibri" panose="020F0502020204030204" pitchFamily="34" charset="0"/>
              <a:ea typeface="Times New Roman" panose="02020603050405020304" pitchFamily="18" charset="0"/>
              <a:cs typeface="Latha" panose="020B0604020202020204" pitchFamily="34" charset="0"/>
            </a:endParaRPr>
          </a:p>
        </p:txBody>
      </p:sp>
      <p:sp>
        <p:nvSpPr>
          <p:cNvPr id="4" name="Rectangle 3">
            <a:extLst>
              <a:ext uri="{FF2B5EF4-FFF2-40B4-BE49-F238E27FC236}">
                <a16:creationId xmlns:a16="http://schemas.microsoft.com/office/drawing/2014/main" id="{C31C71E2-3340-44F7-B2E7-AD3FD000375A}"/>
              </a:ext>
            </a:extLst>
          </p:cNvPr>
          <p:cNvSpPr/>
          <p:nvPr/>
        </p:nvSpPr>
        <p:spPr>
          <a:xfrm>
            <a:off x="3980154" y="2776540"/>
            <a:ext cx="4046364" cy="461665"/>
          </a:xfrm>
          <a:prstGeom prst="rect">
            <a:avLst/>
          </a:prstGeom>
        </p:spPr>
        <p:txBody>
          <a:bodyPr wrap="none">
            <a:spAutoFit/>
          </a:bodyPr>
          <a:lstStyle/>
          <a:p>
            <a:pPr marL="342900" indent="-342900">
              <a:buFont typeface="Wingdings" panose="05000000000000000000" pitchFamily="2" charset="2"/>
              <a:buChar char="Ø"/>
            </a:pPr>
            <a:r>
              <a:rPr lang="en-US" sz="2400" dirty="0"/>
              <a:t>It contains sub modules like </a:t>
            </a:r>
            <a:endParaRPr lang="en-IN" sz="2400" dirty="0"/>
          </a:p>
        </p:txBody>
      </p:sp>
      <p:sp>
        <p:nvSpPr>
          <p:cNvPr id="5" name="Rectangle 4">
            <a:extLst>
              <a:ext uri="{FF2B5EF4-FFF2-40B4-BE49-F238E27FC236}">
                <a16:creationId xmlns:a16="http://schemas.microsoft.com/office/drawing/2014/main" id="{636C00DC-861F-4552-BE9C-F297F0CB6FC1}"/>
              </a:ext>
            </a:extLst>
          </p:cNvPr>
          <p:cNvSpPr/>
          <p:nvPr/>
        </p:nvSpPr>
        <p:spPr>
          <a:xfrm>
            <a:off x="6096000" y="3416081"/>
            <a:ext cx="2050113" cy="400110"/>
          </a:xfrm>
          <a:prstGeom prst="rect">
            <a:avLst/>
          </a:prstGeom>
        </p:spPr>
        <p:txBody>
          <a:bodyPr wrap="none">
            <a:spAutoFit/>
          </a:bodyPr>
          <a:lstStyle/>
          <a:p>
            <a:pPr marL="342900" indent="-342900">
              <a:buFont typeface="Wingdings" panose="05000000000000000000" pitchFamily="2" charset="2"/>
              <a:buChar char="§"/>
            </a:pPr>
            <a:r>
              <a:rPr lang="en-US" sz="2000" dirty="0">
                <a:latin typeface="Calibri" panose="020F0502020204030204" pitchFamily="34" charset="0"/>
                <a:ea typeface="Times New Roman" panose="02020603050405020304" pitchFamily="18" charset="0"/>
                <a:cs typeface="Latha" panose="020B0604020202020204" pitchFamily="34" charset="0"/>
              </a:rPr>
              <a:t>New Category </a:t>
            </a:r>
            <a:endParaRPr lang="en-IN" sz="2000" dirty="0"/>
          </a:p>
        </p:txBody>
      </p:sp>
      <p:sp>
        <p:nvSpPr>
          <p:cNvPr id="6" name="TextBox 5">
            <a:extLst>
              <a:ext uri="{FF2B5EF4-FFF2-40B4-BE49-F238E27FC236}">
                <a16:creationId xmlns:a16="http://schemas.microsoft.com/office/drawing/2014/main" id="{C565766B-60B0-4A69-88EA-9E950DE9F0C3}"/>
              </a:ext>
            </a:extLst>
          </p:cNvPr>
          <p:cNvSpPr txBox="1"/>
          <p:nvPr/>
        </p:nvSpPr>
        <p:spPr>
          <a:xfrm>
            <a:off x="6096000" y="3897058"/>
            <a:ext cx="2599045"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Edit Category Name</a:t>
            </a:r>
            <a:endParaRPr lang="en-IN" sz="2000" dirty="0"/>
          </a:p>
        </p:txBody>
      </p:sp>
      <p:sp>
        <p:nvSpPr>
          <p:cNvPr id="8" name="TextBox 7">
            <a:extLst>
              <a:ext uri="{FF2B5EF4-FFF2-40B4-BE49-F238E27FC236}">
                <a16:creationId xmlns:a16="http://schemas.microsoft.com/office/drawing/2014/main" id="{85CD6DAE-7FEB-4FBA-B4E0-FDB62E694BB6}"/>
              </a:ext>
            </a:extLst>
          </p:cNvPr>
          <p:cNvSpPr txBox="1"/>
          <p:nvPr/>
        </p:nvSpPr>
        <p:spPr>
          <a:xfrm>
            <a:off x="6096000" y="4297168"/>
            <a:ext cx="2389514" cy="400110"/>
          </a:xfrm>
          <a:prstGeom prst="rect">
            <a:avLst/>
          </a:prstGeom>
          <a:noFill/>
        </p:spPr>
        <p:txBody>
          <a:bodyPr wrap="square" rtlCol="0">
            <a:spAutoFit/>
          </a:bodyPr>
          <a:lstStyle/>
          <a:p>
            <a:pPr marL="342900" indent="-342900">
              <a:buFont typeface="Wingdings" panose="05000000000000000000" pitchFamily="2" charset="2"/>
              <a:buChar char="§"/>
            </a:pPr>
            <a:r>
              <a:rPr lang="en-US" sz="2000" dirty="0"/>
              <a:t>Delete category</a:t>
            </a:r>
            <a:endParaRPr lang="en-IN" sz="2000" dirty="0"/>
          </a:p>
        </p:txBody>
      </p:sp>
      <p:sp>
        <p:nvSpPr>
          <p:cNvPr id="9" name="Rectangle 8">
            <a:extLst>
              <a:ext uri="{FF2B5EF4-FFF2-40B4-BE49-F238E27FC236}">
                <a16:creationId xmlns:a16="http://schemas.microsoft.com/office/drawing/2014/main" id="{35A7A555-3A4E-4E8A-95BA-D84A04F6F5BD}"/>
              </a:ext>
            </a:extLst>
          </p:cNvPr>
          <p:cNvSpPr/>
          <p:nvPr/>
        </p:nvSpPr>
        <p:spPr>
          <a:xfrm>
            <a:off x="6096000" y="4769484"/>
            <a:ext cx="3027817" cy="400110"/>
          </a:xfrm>
          <a:prstGeom prst="rect">
            <a:avLst/>
          </a:prstGeom>
        </p:spPr>
        <p:txBody>
          <a:bodyPr wrap="none">
            <a:spAutoFit/>
          </a:bodyPr>
          <a:lstStyle/>
          <a:p>
            <a:pPr marL="342900" indent="-342900">
              <a:buFont typeface="Wingdings" panose="05000000000000000000" pitchFamily="2" charset="2"/>
              <a:buChar char="§"/>
            </a:pPr>
            <a:r>
              <a:rPr lang="en-US" sz="2000" dirty="0"/>
              <a:t>Delete Unused category</a:t>
            </a:r>
            <a:endParaRPr lang="en-IN" sz="2000" dirty="0"/>
          </a:p>
        </p:txBody>
      </p:sp>
      <p:sp>
        <p:nvSpPr>
          <p:cNvPr id="10" name="TextBox 9">
            <a:extLst>
              <a:ext uri="{FF2B5EF4-FFF2-40B4-BE49-F238E27FC236}">
                <a16:creationId xmlns:a16="http://schemas.microsoft.com/office/drawing/2014/main" id="{19887246-3B92-4A85-A5E2-FB00BAC96831}"/>
              </a:ext>
            </a:extLst>
          </p:cNvPr>
          <p:cNvSpPr txBox="1"/>
          <p:nvPr/>
        </p:nvSpPr>
        <p:spPr>
          <a:xfrm>
            <a:off x="6096000" y="5242117"/>
            <a:ext cx="2204706"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Merge Category</a:t>
            </a:r>
            <a:endParaRPr lang="en-IN" sz="2000" dirty="0"/>
          </a:p>
        </p:txBody>
      </p:sp>
      <p:sp>
        <p:nvSpPr>
          <p:cNvPr id="11" name="TextBox 10">
            <a:extLst>
              <a:ext uri="{FF2B5EF4-FFF2-40B4-BE49-F238E27FC236}">
                <a16:creationId xmlns:a16="http://schemas.microsoft.com/office/drawing/2014/main" id="{4229CDDA-02C5-49A1-A36A-79D300E55420}"/>
              </a:ext>
            </a:extLst>
          </p:cNvPr>
          <p:cNvSpPr txBox="1"/>
          <p:nvPr/>
        </p:nvSpPr>
        <p:spPr>
          <a:xfrm>
            <a:off x="6096000" y="5714750"/>
            <a:ext cx="2532809"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Report by Category</a:t>
            </a:r>
            <a:endParaRPr lang="en-IN" sz="2000" dirty="0"/>
          </a:p>
        </p:txBody>
      </p:sp>
      <p:sp>
        <p:nvSpPr>
          <p:cNvPr id="12" name="TextBox 11">
            <a:extLst>
              <a:ext uri="{FF2B5EF4-FFF2-40B4-BE49-F238E27FC236}">
                <a16:creationId xmlns:a16="http://schemas.microsoft.com/office/drawing/2014/main" id="{824957CE-6149-410D-901D-1C3A8BF263C3}"/>
              </a:ext>
            </a:extLst>
          </p:cNvPr>
          <p:cNvSpPr txBox="1"/>
          <p:nvPr/>
        </p:nvSpPr>
        <p:spPr>
          <a:xfrm>
            <a:off x="6096000" y="6101643"/>
            <a:ext cx="2037802"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Budget Report</a:t>
            </a:r>
            <a:endParaRPr lang="en-IN" sz="2000" dirty="0"/>
          </a:p>
        </p:txBody>
      </p:sp>
      <p:sp>
        <p:nvSpPr>
          <p:cNvPr id="13" name="Rectangle 12">
            <a:extLst>
              <a:ext uri="{FF2B5EF4-FFF2-40B4-BE49-F238E27FC236}">
                <a16:creationId xmlns:a16="http://schemas.microsoft.com/office/drawing/2014/main" id="{1B239521-BDD6-40ED-B5A8-2FE0221FFA2D}"/>
              </a:ext>
            </a:extLst>
          </p:cNvPr>
          <p:cNvSpPr/>
          <p:nvPr/>
        </p:nvSpPr>
        <p:spPr>
          <a:xfrm>
            <a:off x="6096000" y="6501753"/>
            <a:ext cx="1245854" cy="400110"/>
          </a:xfrm>
          <a:prstGeom prst="rect">
            <a:avLst/>
          </a:prstGeom>
        </p:spPr>
        <p:txBody>
          <a:bodyPr wrap="none">
            <a:spAutoFit/>
          </a:bodyPr>
          <a:lstStyle/>
          <a:p>
            <a:pPr marL="342900" indent="-342900">
              <a:buFont typeface="Wingdings" panose="05000000000000000000" pitchFamily="2" charset="2"/>
              <a:buChar char="§"/>
            </a:pPr>
            <a:r>
              <a:rPr lang="en-US" sz="2000" dirty="0"/>
              <a:t>Import</a:t>
            </a:r>
            <a:endParaRPr lang="en-IN" sz="2000" dirty="0"/>
          </a:p>
        </p:txBody>
      </p:sp>
    </p:spTree>
    <p:extLst>
      <p:ext uri="{BB962C8B-B14F-4D97-AF65-F5344CB8AC3E}">
        <p14:creationId xmlns:p14="http://schemas.microsoft.com/office/powerpoint/2010/main" val="1610285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FA79-3488-4361-ADE6-F98E021DE5CF}"/>
              </a:ext>
            </a:extLst>
          </p:cNvPr>
          <p:cNvSpPr>
            <a:spLocks noGrp="1"/>
          </p:cNvSpPr>
          <p:nvPr>
            <p:ph type="title"/>
          </p:nvPr>
        </p:nvSpPr>
        <p:spPr>
          <a:xfrm>
            <a:off x="660646" y="365125"/>
            <a:ext cx="10515600" cy="1325563"/>
          </a:xfrm>
        </p:spPr>
        <p:txBody>
          <a:bodyPr>
            <a:normAutofit/>
          </a:bodyPr>
          <a:lstStyle/>
          <a:p>
            <a:r>
              <a:rPr lang="en-US" sz="3200" dirty="0">
                <a:latin typeface="Algerian" panose="04020705040A02060702" pitchFamily="82" charset="0"/>
              </a:rPr>
              <a:t>Schedule Module </a:t>
            </a:r>
            <a:br>
              <a:rPr lang="en-IN" sz="3200" dirty="0">
                <a:latin typeface="Algerian" panose="04020705040A02060702" pitchFamily="82" charset="0"/>
              </a:rPr>
            </a:br>
            <a:endParaRPr lang="en-IN" sz="3200" dirty="0">
              <a:latin typeface="Algerian" panose="04020705040A02060702" pitchFamily="82" charset="0"/>
            </a:endParaRPr>
          </a:p>
        </p:txBody>
      </p:sp>
      <p:sp>
        <p:nvSpPr>
          <p:cNvPr id="3" name="Rectangle 2">
            <a:extLst>
              <a:ext uri="{FF2B5EF4-FFF2-40B4-BE49-F238E27FC236}">
                <a16:creationId xmlns:a16="http://schemas.microsoft.com/office/drawing/2014/main" id="{A664FB16-F164-402D-BA57-4726206CDB3B}"/>
              </a:ext>
            </a:extLst>
          </p:cNvPr>
          <p:cNvSpPr/>
          <p:nvPr/>
        </p:nvSpPr>
        <p:spPr>
          <a:xfrm>
            <a:off x="3198920" y="1395767"/>
            <a:ext cx="8519604" cy="916854"/>
          </a:xfrm>
          <a:prstGeom prst="rect">
            <a:avLst/>
          </a:prstGeom>
        </p:spPr>
        <p:txBody>
          <a:bodyPr wrap="square">
            <a:spAutoFit/>
          </a:bodyPr>
          <a:lstStyle/>
          <a:p>
            <a:pPr marL="10287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Latha" panose="020B0604020202020204" pitchFamily="34" charset="0"/>
              </a:rPr>
              <a:t>Schedule Module is Used to Schedule the Transaction between the Account Holder to the Payee or wise versa. </a:t>
            </a:r>
            <a:endParaRPr lang="en-IN" sz="2400" dirty="0">
              <a:latin typeface="Calibri" panose="020F0502020204030204" pitchFamily="34" charset="0"/>
              <a:ea typeface="Times New Roman" panose="02020603050405020304" pitchFamily="18" charset="0"/>
              <a:cs typeface="Latha" panose="020B0604020202020204" pitchFamily="34" charset="0"/>
            </a:endParaRPr>
          </a:p>
        </p:txBody>
      </p:sp>
      <p:sp>
        <p:nvSpPr>
          <p:cNvPr id="4" name="Rectangle 3">
            <a:extLst>
              <a:ext uri="{FF2B5EF4-FFF2-40B4-BE49-F238E27FC236}">
                <a16:creationId xmlns:a16="http://schemas.microsoft.com/office/drawing/2014/main" id="{DA632B12-FC99-43DD-97CE-D80606A4D981}"/>
              </a:ext>
            </a:extLst>
          </p:cNvPr>
          <p:cNvSpPr/>
          <p:nvPr/>
        </p:nvSpPr>
        <p:spPr>
          <a:xfrm>
            <a:off x="3895264" y="2490497"/>
            <a:ext cx="4046364" cy="461665"/>
          </a:xfrm>
          <a:prstGeom prst="rect">
            <a:avLst/>
          </a:prstGeom>
        </p:spPr>
        <p:txBody>
          <a:bodyPr wrap="none">
            <a:spAutoFit/>
          </a:bodyPr>
          <a:lstStyle/>
          <a:p>
            <a:pPr marL="342900" indent="-342900">
              <a:buFont typeface="Wingdings" panose="05000000000000000000" pitchFamily="2" charset="2"/>
              <a:buChar char="Ø"/>
            </a:pPr>
            <a:r>
              <a:rPr lang="en-US" sz="2400" dirty="0"/>
              <a:t>It contains sub modules like </a:t>
            </a:r>
            <a:endParaRPr lang="en-IN" sz="2400" dirty="0"/>
          </a:p>
        </p:txBody>
      </p:sp>
      <p:sp>
        <p:nvSpPr>
          <p:cNvPr id="5" name="TextBox 4">
            <a:extLst>
              <a:ext uri="{FF2B5EF4-FFF2-40B4-BE49-F238E27FC236}">
                <a16:creationId xmlns:a16="http://schemas.microsoft.com/office/drawing/2014/main" id="{06668B1E-D67E-43D2-9DD1-F61268D4E5D8}"/>
              </a:ext>
            </a:extLst>
          </p:cNvPr>
          <p:cNvSpPr txBox="1"/>
          <p:nvPr/>
        </p:nvSpPr>
        <p:spPr>
          <a:xfrm>
            <a:off x="6391922" y="3429000"/>
            <a:ext cx="2454454"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Enter Into Registry</a:t>
            </a:r>
            <a:endParaRPr lang="en-IN" sz="2000" dirty="0"/>
          </a:p>
        </p:txBody>
      </p:sp>
      <p:sp>
        <p:nvSpPr>
          <p:cNvPr id="6" name="TextBox 5">
            <a:extLst>
              <a:ext uri="{FF2B5EF4-FFF2-40B4-BE49-F238E27FC236}">
                <a16:creationId xmlns:a16="http://schemas.microsoft.com/office/drawing/2014/main" id="{F07CC04D-70FE-4563-BE9E-1E0AB9236876}"/>
              </a:ext>
            </a:extLst>
          </p:cNvPr>
          <p:cNvSpPr txBox="1"/>
          <p:nvPr/>
        </p:nvSpPr>
        <p:spPr>
          <a:xfrm>
            <a:off x="6391922" y="4068541"/>
            <a:ext cx="2198038"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Add bill/deposit</a:t>
            </a:r>
            <a:endParaRPr lang="en-IN" sz="2000" dirty="0"/>
          </a:p>
        </p:txBody>
      </p:sp>
      <p:sp>
        <p:nvSpPr>
          <p:cNvPr id="7" name="Rectangle 6">
            <a:extLst>
              <a:ext uri="{FF2B5EF4-FFF2-40B4-BE49-F238E27FC236}">
                <a16:creationId xmlns:a16="http://schemas.microsoft.com/office/drawing/2014/main" id="{F928B30E-DE63-47DB-8CF4-084161AF4A3C}"/>
              </a:ext>
            </a:extLst>
          </p:cNvPr>
          <p:cNvSpPr/>
          <p:nvPr/>
        </p:nvSpPr>
        <p:spPr>
          <a:xfrm>
            <a:off x="6400225" y="4708082"/>
            <a:ext cx="2181431" cy="400110"/>
          </a:xfrm>
          <a:prstGeom prst="rect">
            <a:avLst/>
          </a:prstGeom>
        </p:spPr>
        <p:txBody>
          <a:bodyPr wrap="none">
            <a:spAutoFit/>
          </a:bodyPr>
          <a:lstStyle/>
          <a:p>
            <a:pPr marL="342900" indent="-342900">
              <a:buFont typeface="Wingdings" panose="05000000000000000000" pitchFamily="2" charset="2"/>
              <a:buChar char="§"/>
            </a:pPr>
            <a:r>
              <a:rPr lang="en-US" sz="2000" dirty="0"/>
              <a:t>Edit bill/deposit</a:t>
            </a:r>
            <a:endParaRPr lang="en-IN" sz="2000" dirty="0"/>
          </a:p>
        </p:txBody>
      </p:sp>
      <p:sp>
        <p:nvSpPr>
          <p:cNvPr id="8" name="Rectangle 7">
            <a:extLst>
              <a:ext uri="{FF2B5EF4-FFF2-40B4-BE49-F238E27FC236}">
                <a16:creationId xmlns:a16="http://schemas.microsoft.com/office/drawing/2014/main" id="{76175A7D-61E2-4740-8A41-D1FB3AA51BF7}"/>
              </a:ext>
            </a:extLst>
          </p:cNvPr>
          <p:cNvSpPr/>
          <p:nvPr/>
        </p:nvSpPr>
        <p:spPr>
          <a:xfrm>
            <a:off x="6400225" y="5262178"/>
            <a:ext cx="2209259" cy="400110"/>
          </a:xfrm>
          <a:prstGeom prst="rect">
            <a:avLst/>
          </a:prstGeom>
        </p:spPr>
        <p:txBody>
          <a:bodyPr wrap="none">
            <a:spAutoFit/>
          </a:bodyPr>
          <a:lstStyle/>
          <a:p>
            <a:pPr marL="342900" indent="-342900">
              <a:buFont typeface="Wingdings" panose="05000000000000000000" pitchFamily="2" charset="2"/>
              <a:buChar char="§"/>
            </a:pPr>
            <a:r>
              <a:rPr lang="en-US" sz="2000" dirty="0"/>
              <a:t>Skip bill/deposit</a:t>
            </a:r>
            <a:endParaRPr lang="en-IN" sz="2000" dirty="0"/>
          </a:p>
        </p:txBody>
      </p:sp>
      <p:sp>
        <p:nvSpPr>
          <p:cNvPr id="9" name="TextBox 8">
            <a:extLst>
              <a:ext uri="{FF2B5EF4-FFF2-40B4-BE49-F238E27FC236}">
                <a16:creationId xmlns:a16="http://schemas.microsoft.com/office/drawing/2014/main" id="{30D0DAEF-D3BA-4835-A820-3E316B2257B2}"/>
              </a:ext>
            </a:extLst>
          </p:cNvPr>
          <p:cNvSpPr txBox="1"/>
          <p:nvPr/>
        </p:nvSpPr>
        <p:spPr>
          <a:xfrm>
            <a:off x="6404649" y="5816274"/>
            <a:ext cx="1214500"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Delete</a:t>
            </a:r>
            <a:endParaRPr lang="en-IN" sz="2000" dirty="0"/>
          </a:p>
        </p:txBody>
      </p:sp>
    </p:spTree>
    <p:extLst>
      <p:ext uri="{BB962C8B-B14F-4D97-AF65-F5344CB8AC3E}">
        <p14:creationId xmlns:p14="http://schemas.microsoft.com/office/powerpoint/2010/main" val="734489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AAE3-E931-4694-B505-C948F8F30839}"/>
              </a:ext>
            </a:extLst>
          </p:cNvPr>
          <p:cNvSpPr>
            <a:spLocks noGrp="1"/>
          </p:cNvSpPr>
          <p:nvPr>
            <p:ph type="title"/>
          </p:nvPr>
        </p:nvSpPr>
        <p:spPr>
          <a:xfrm>
            <a:off x="571870" y="356247"/>
            <a:ext cx="10515600" cy="1325563"/>
          </a:xfrm>
        </p:spPr>
        <p:txBody>
          <a:bodyPr>
            <a:normAutofit/>
          </a:bodyPr>
          <a:lstStyle/>
          <a:p>
            <a:r>
              <a:rPr lang="en-US" sz="3200" dirty="0">
                <a:latin typeface="Algerian" panose="04020705040A02060702" pitchFamily="82" charset="0"/>
              </a:rPr>
              <a:t>Report Module</a:t>
            </a:r>
            <a:br>
              <a:rPr lang="en-IN" sz="3200" dirty="0">
                <a:latin typeface="Algerian" panose="04020705040A02060702" pitchFamily="82" charset="0"/>
              </a:rPr>
            </a:br>
            <a:endParaRPr lang="en-IN" sz="3200" dirty="0">
              <a:latin typeface="Algerian" panose="04020705040A02060702" pitchFamily="82" charset="0"/>
            </a:endParaRPr>
          </a:p>
        </p:txBody>
      </p:sp>
      <p:sp>
        <p:nvSpPr>
          <p:cNvPr id="3" name="Rectangle 2">
            <a:extLst>
              <a:ext uri="{FF2B5EF4-FFF2-40B4-BE49-F238E27FC236}">
                <a16:creationId xmlns:a16="http://schemas.microsoft.com/office/drawing/2014/main" id="{9686042D-836F-4777-B6E0-28A4425AC370}"/>
              </a:ext>
            </a:extLst>
          </p:cNvPr>
          <p:cNvSpPr/>
          <p:nvPr/>
        </p:nvSpPr>
        <p:spPr>
          <a:xfrm>
            <a:off x="3092388" y="1390348"/>
            <a:ext cx="7250097" cy="916854"/>
          </a:xfrm>
          <a:prstGeom prst="rect">
            <a:avLst/>
          </a:prstGeom>
        </p:spPr>
        <p:txBody>
          <a:bodyPr wrap="square">
            <a:spAutoFit/>
          </a:bodyPr>
          <a:lstStyle/>
          <a:p>
            <a:pPr marL="1028700" indent="-342900">
              <a:lnSpc>
                <a:spcPct val="115000"/>
              </a:lnSpc>
              <a:spcAft>
                <a:spcPts val="1000"/>
              </a:spcAft>
              <a:buFont typeface="Wingdings" panose="05000000000000000000" pitchFamily="2" charset="2"/>
              <a:buChar char="Ø"/>
            </a:pPr>
            <a:r>
              <a:rPr lang="en-US" sz="2400" dirty="0">
                <a:latin typeface="Calibri" panose="020F0502020204030204" pitchFamily="34" charset="0"/>
                <a:ea typeface="Times New Roman" panose="02020603050405020304" pitchFamily="18" charset="0"/>
                <a:cs typeface="Latha" panose="020B0604020202020204" pitchFamily="34" charset="0"/>
              </a:rPr>
              <a:t>Report Module is used to view the Financial Transaction as a Report format. </a:t>
            </a:r>
            <a:endParaRPr lang="en-IN" sz="2400" dirty="0">
              <a:latin typeface="Calibri" panose="020F0502020204030204" pitchFamily="34" charset="0"/>
              <a:ea typeface="Times New Roman" panose="02020603050405020304" pitchFamily="18" charset="0"/>
              <a:cs typeface="Latha" panose="020B0604020202020204" pitchFamily="34" charset="0"/>
            </a:endParaRPr>
          </a:p>
        </p:txBody>
      </p:sp>
      <p:sp>
        <p:nvSpPr>
          <p:cNvPr id="4" name="Rectangle 3">
            <a:extLst>
              <a:ext uri="{FF2B5EF4-FFF2-40B4-BE49-F238E27FC236}">
                <a16:creationId xmlns:a16="http://schemas.microsoft.com/office/drawing/2014/main" id="{85269E1F-4556-4E58-9380-F174788EC016}"/>
              </a:ext>
            </a:extLst>
          </p:cNvPr>
          <p:cNvSpPr/>
          <p:nvPr/>
        </p:nvSpPr>
        <p:spPr>
          <a:xfrm>
            <a:off x="3735643" y="2485078"/>
            <a:ext cx="4046364" cy="461665"/>
          </a:xfrm>
          <a:prstGeom prst="rect">
            <a:avLst/>
          </a:prstGeom>
        </p:spPr>
        <p:txBody>
          <a:bodyPr wrap="none">
            <a:spAutoFit/>
          </a:bodyPr>
          <a:lstStyle/>
          <a:p>
            <a:pPr marL="342900" indent="-342900">
              <a:buFont typeface="Wingdings" panose="05000000000000000000" pitchFamily="2" charset="2"/>
              <a:buChar char="Ø"/>
            </a:pPr>
            <a:r>
              <a:rPr lang="en-US" sz="2400" dirty="0"/>
              <a:t>It contains sub modules like </a:t>
            </a:r>
            <a:endParaRPr lang="en-IN" sz="2400" dirty="0"/>
          </a:p>
        </p:txBody>
      </p:sp>
      <p:sp>
        <p:nvSpPr>
          <p:cNvPr id="5" name="TextBox 4">
            <a:extLst>
              <a:ext uri="{FF2B5EF4-FFF2-40B4-BE49-F238E27FC236}">
                <a16:creationId xmlns:a16="http://schemas.microsoft.com/office/drawing/2014/main" id="{1EB65665-7A07-4F8D-925E-CDB3DE75BAA2}"/>
              </a:ext>
            </a:extLst>
          </p:cNvPr>
          <p:cNvSpPr txBox="1"/>
          <p:nvPr/>
        </p:nvSpPr>
        <p:spPr>
          <a:xfrm>
            <a:off x="6383045" y="3341303"/>
            <a:ext cx="2117759"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General Report</a:t>
            </a:r>
            <a:endParaRPr lang="en-IN" sz="2000" dirty="0"/>
          </a:p>
        </p:txBody>
      </p:sp>
      <p:sp>
        <p:nvSpPr>
          <p:cNvPr id="6" name="TextBox 5">
            <a:extLst>
              <a:ext uri="{FF2B5EF4-FFF2-40B4-BE49-F238E27FC236}">
                <a16:creationId xmlns:a16="http://schemas.microsoft.com/office/drawing/2014/main" id="{6A2ABEB3-5FB1-4A85-8919-9B20E81D6065}"/>
              </a:ext>
            </a:extLst>
          </p:cNvPr>
          <p:cNvSpPr txBox="1"/>
          <p:nvPr/>
        </p:nvSpPr>
        <p:spPr>
          <a:xfrm>
            <a:off x="6383045" y="3980844"/>
            <a:ext cx="2226443"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Category Report</a:t>
            </a:r>
            <a:endParaRPr lang="en-IN" sz="2000" dirty="0"/>
          </a:p>
        </p:txBody>
      </p:sp>
      <p:sp>
        <p:nvSpPr>
          <p:cNvPr id="7" name="TextBox 6">
            <a:extLst>
              <a:ext uri="{FF2B5EF4-FFF2-40B4-BE49-F238E27FC236}">
                <a16:creationId xmlns:a16="http://schemas.microsoft.com/office/drawing/2014/main" id="{15A1AFA1-79DA-45FB-B836-F1AED9340245}"/>
              </a:ext>
            </a:extLst>
          </p:cNvPr>
          <p:cNvSpPr txBox="1"/>
          <p:nvPr/>
        </p:nvSpPr>
        <p:spPr>
          <a:xfrm>
            <a:off x="6383045" y="4620385"/>
            <a:ext cx="1912447"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Payee Report</a:t>
            </a:r>
            <a:endParaRPr lang="en-IN" sz="2000" dirty="0"/>
          </a:p>
        </p:txBody>
      </p:sp>
      <p:sp>
        <p:nvSpPr>
          <p:cNvPr id="9" name="TextBox 8">
            <a:extLst>
              <a:ext uri="{FF2B5EF4-FFF2-40B4-BE49-F238E27FC236}">
                <a16:creationId xmlns:a16="http://schemas.microsoft.com/office/drawing/2014/main" id="{A96F30DC-8E61-4099-B0D6-50B0FB8A259A}"/>
              </a:ext>
            </a:extLst>
          </p:cNvPr>
          <p:cNvSpPr txBox="1"/>
          <p:nvPr/>
        </p:nvSpPr>
        <p:spPr>
          <a:xfrm>
            <a:off x="6383045" y="5215000"/>
            <a:ext cx="2037802"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Budget Report</a:t>
            </a:r>
            <a:endParaRPr lang="en-IN" sz="2000" dirty="0"/>
          </a:p>
        </p:txBody>
      </p:sp>
      <p:sp>
        <p:nvSpPr>
          <p:cNvPr id="10" name="TextBox 9">
            <a:extLst>
              <a:ext uri="{FF2B5EF4-FFF2-40B4-BE49-F238E27FC236}">
                <a16:creationId xmlns:a16="http://schemas.microsoft.com/office/drawing/2014/main" id="{B25961D5-7F93-470A-8FC9-CCD96ADF8676}"/>
              </a:ext>
            </a:extLst>
          </p:cNvPr>
          <p:cNvSpPr txBox="1"/>
          <p:nvPr/>
        </p:nvSpPr>
        <p:spPr>
          <a:xfrm>
            <a:off x="6383045" y="5854541"/>
            <a:ext cx="2423227" cy="400110"/>
          </a:xfrm>
          <a:prstGeom prst="rect">
            <a:avLst/>
          </a:prstGeom>
          <a:noFill/>
        </p:spPr>
        <p:txBody>
          <a:bodyPr wrap="none" rtlCol="0">
            <a:spAutoFit/>
          </a:bodyPr>
          <a:lstStyle/>
          <a:p>
            <a:pPr marL="342900" indent="-342900">
              <a:buFont typeface="Wingdings" panose="05000000000000000000" pitchFamily="2" charset="2"/>
              <a:buChar char="§"/>
            </a:pPr>
            <a:r>
              <a:rPr lang="en-US" sz="2000" dirty="0"/>
              <a:t>Investment report</a:t>
            </a:r>
            <a:endParaRPr lang="en-IN" sz="2000" dirty="0"/>
          </a:p>
        </p:txBody>
      </p:sp>
    </p:spTree>
    <p:extLst>
      <p:ext uri="{BB962C8B-B14F-4D97-AF65-F5344CB8AC3E}">
        <p14:creationId xmlns:p14="http://schemas.microsoft.com/office/powerpoint/2010/main" val="1724985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26CC22-8E7F-41CF-A65B-B616D32DE585}"/>
              </a:ext>
            </a:extLst>
          </p:cNvPr>
          <p:cNvSpPr txBox="1"/>
          <p:nvPr/>
        </p:nvSpPr>
        <p:spPr>
          <a:xfrm>
            <a:off x="4858321" y="3075057"/>
            <a:ext cx="2475358" cy="707886"/>
          </a:xfrm>
          <a:prstGeom prst="rect">
            <a:avLst/>
          </a:prstGeom>
          <a:noFill/>
        </p:spPr>
        <p:txBody>
          <a:bodyPr wrap="none" rtlCol="0">
            <a:spAutoFit/>
          </a:bodyPr>
          <a:lstStyle/>
          <a:p>
            <a:r>
              <a:rPr lang="en-US" sz="4000" dirty="0">
                <a:latin typeface="Arial Rounded MT Bold" panose="020F0704030504030204" pitchFamily="34" charset="0"/>
              </a:rPr>
              <a:t>THE END</a:t>
            </a:r>
            <a:endParaRPr lang="en-IN" sz="4000" dirty="0">
              <a:latin typeface="Arial Rounded MT Bold" panose="020F0704030504030204" pitchFamily="34" charset="0"/>
            </a:endParaRPr>
          </a:p>
        </p:txBody>
      </p:sp>
    </p:spTree>
    <p:extLst>
      <p:ext uri="{BB962C8B-B14F-4D97-AF65-F5344CB8AC3E}">
        <p14:creationId xmlns:p14="http://schemas.microsoft.com/office/powerpoint/2010/main" val="2799772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TotalTime>
  <Words>413</Words>
  <Application>Microsoft Office PowerPoint</Application>
  <PresentationFormat>Widescreen</PresentationFormat>
  <Paragraphs>77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Algerian</vt:lpstr>
      <vt:lpstr>Arial</vt:lpstr>
      <vt:lpstr>Arial Black</vt:lpstr>
      <vt:lpstr>Arial Rounded MT Bold</vt:lpstr>
      <vt:lpstr>Calibri</vt:lpstr>
      <vt:lpstr>Calibri Light</vt:lpstr>
      <vt:lpstr>Wingdings</vt:lpstr>
      <vt:lpstr>Office Theme</vt:lpstr>
      <vt:lpstr>PowerPoint Presentation</vt:lpstr>
      <vt:lpstr>FIN SERVE</vt:lpstr>
      <vt:lpstr>TYPES OF MODULES</vt:lpstr>
      <vt:lpstr>PowerPoint Presentation</vt:lpstr>
      <vt:lpstr>Portfolio Module  </vt:lpstr>
      <vt:lpstr>Bank Module  </vt:lpstr>
      <vt:lpstr>Payee Module  </vt:lpstr>
      <vt:lpstr>Categories Module  </vt:lpstr>
      <vt:lpstr>Schedule Module  </vt:lpstr>
      <vt:lpstr>Report Module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 kumar</dc:creator>
  <cp:lastModifiedBy>karthik kumar</cp:lastModifiedBy>
  <cp:revision>29</cp:revision>
  <dcterms:created xsi:type="dcterms:W3CDTF">2021-01-09T15:34:41Z</dcterms:created>
  <dcterms:modified xsi:type="dcterms:W3CDTF">2021-01-10T15:20:53Z</dcterms:modified>
</cp:coreProperties>
</file>